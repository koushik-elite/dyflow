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58" r:id="rId4"/>
    <p:sldId id="259" r:id="rId5"/>
    <p:sldId id="273" r:id="rId6"/>
    <p:sldId id="260" r:id="rId7"/>
    <p:sldId id="261" r:id="rId8"/>
    <p:sldId id="262" r:id="rId9"/>
    <p:sldId id="274" r:id="rId10"/>
    <p:sldId id="275" r:id="rId11"/>
    <p:sldId id="276" r:id="rId12"/>
    <p:sldId id="265" r:id="rId13"/>
    <p:sldId id="278" r:id="rId14"/>
    <p:sldId id="284" r:id="rId15"/>
    <p:sldId id="282" r:id="rId16"/>
    <p:sldId id="279" r:id="rId17"/>
    <p:sldId id="281" r:id="rId18"/>
    <p:sldId id="271" r:id="rId19"/>
    <p:sldId id="277" r:id="rId20"/>
    <p:sldId id="280" r:id="rId21"/>
    <p:sldId id="267" r:id="rId22"/>
    <p:sldId id="272" r:id="rId2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D56A99-B4CE-4BCB-A47C-24E3CE6EC4FA}" v="26" dt="2026-05-03T03:53:55.381"/>
  </p1510:revLst>
</p1510:revInfo>
</file>

<file path=ppt/tableStyles.xml><?xml version="1.0" encoding="utf-8"?>
<a:tblStyleLst xmlns:a="http://schemas.openxmlformats.org/drawingml/2006/main" def="{90651C3A-4460-11DB-9652-00E08161165F}">
  <a:tblStyle styleId="{DD6EE30B-C028-4789-B6E4-0BFFCBE8230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037" autoAdjust="0"/>
  </p:normalViewPr>
  <p:slideViewPr>
    <p:cSldViewPr snapToGrid="0">
      <p:cViewPr>
        <p:scale>
          <a:sx n="100" d="100"/>
          <a:sy n="100" d="100"/>
        </p:scale>
        <p:origin x="300" y="-162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lvaraj, Koushik" userId="84b0a011-a644-4927-86c7-313b61325c1d" providerId="ADAL" clId="{9B020CE6-206C-4340-A74D-0FFC1AFFB705}"/>
    <pc:docChg chg="undo custSel addSld delSld modSld sldOrd">
      <pc:chgData name="Selvaraj, Koushik" userId="84b0a011-a644-4927-86c7-313b61325c1d" providerId="ADAL" clId="{9B020CE6-206C-4340-A74D-0FFC1AFFB705}" dt="2026-05-03T03:54:28.014" v="744" actId="11529"/>
      <pc:docMkLst>
        <pc:docMk/>
      </pc:docMkLst>
      <pc:sldChg chg="delSp mod">
        <pc:chgData name="Selvaraj, Koushik" userId="84b0a011-a644-4927-86c7-313b61325c1d" providerId="ADAL" clId="{9B020CE6-206C-4340-A74D-0FFC1AFFB705}" dt="2026-05-03T02:26:39.944" v="704" actId="478"/>
        <pc:sldMkLst>
          <pc:docMk/>
          <pc:sldMk cId="379129485" sldId="271"/>
        </pc:sldMkLst>
        <pc:picChg chg="del">
          <ac:chgData name="Selvaraj, Koushik" userId="84b0a011-a644-4927-86c7-313b61325c1d" providerId="ADAL" clId="{9B020CE6-206C-4340-A74D-0FFC1AFFB705}" dt="2026-05-03T02:26:36.852" v="703" actId="478"/>
          <ac:picMkLst>
            <pc:docMk/>
            <pc:sldMk cId="379129485" sldId="271"/>
            <ac:picMk id="3" creationId="{3007ADF8-B14B-8131-5BF7-11D8CA542892}"/>
          </ac:picMkLst>
        </pc:picChg>
        <pc:cxnChg chg="del">
          <ac:chgData name="Selvaraj, Koushik" userId="84b0a011-a644-4927-86c7-313b61325c1d" providerId="ADAL" clId="{9B020CE6-206C-4340-A74D-0FFC1AFFB705}" dt="2026-05-03T02:26:39.944" v="704" actId="478"/>
          <ac:cxnSpMkLst>
            <pc:docMk/>
            <pc:sldMk cId="379129485" sldId="271"/>
            <ac:cxnSpMk id="22" creationId="{49CAB60D-4D9F-82BA-0B6E-A034207F9AA2}"/>
          </ac:cxnSpMkLst>
        </pc:cxnChg>
      </pc:sldChg>
      <pc:sldChg chg="addSp delSp modSp add mod">
        <pc:chgData name="Selvaraj, Koushik" userId="84b0a011-a644-4927-86c7-313b61325c1d" providerId="ADAL" clId="{9B020CE6-206C-4340-A74D-0FFC1AFFB705}" dt="2026-05-03T02:20:13.106" v="659" actId="14100"/>
        <pc:sldMkLst>
          <pc:docMk/>
          <pc:sldMk cId="2945087013" sldId="278"/>
        </pc:sldMkLst>
        <pc:picChg chg="add mod">
          <ac:chgData name="Selvaraj, Koushik" userId="84b0a011-a644-4927-86c7-313b61325c1d" providerId="ADAL" clId="{9B020CE6-206C-4340-A74D-0FFC1AFFB705}" dt="2026-05-03T02:20:13.106" v="659" actId="14100"/>
          <ac:picMkLst>
            <pc:docMk/>
            <pc:sldMk cId="2945087013" sldId="278"/>
            <ac:picMk id="2" creationId="{C78AC960-2F4C-16AC-3301-88F159808AC8}"/>
          </ac:picMkLst>
        </pc:picChg>
        <pc:picChg chg="add del mod">
          <ac:chgData name="Selvaraj, Koushik" userId="84b0a011-a644-4927-86c7-313b61325c1d" providerId="ADAL" clId="{9B020CE6-206C-4340-A74D-0FFC1AFFB705}" dt="2026-05-03T02:20:07.235" v="656" actId="478"/>
          <ac:picMkLst>
            <pc:docMk/>
            <pc:sldMk cId="2945087013" sldId="278"/>
            <ac:picMk id="2049" creationId="{08A11DED-BB09-70E3-1085-41CD026C572D}"/>
          </ac:picMkLst>
        </pc:picChg>
      </pc:sldChg>
      <pc:sldChg chg="addSp delSp modSp add mod">
        <pc:chgData name="Selvaraj, Koushik" userId="84b0a011-a644-4927-86c7-313b61325c1d" providerId="ADAL" clId="{9B020CE6-206C-4340-A74D-0FFC1AFFB705}" dt="2026-05-03T03:51:37.823" v="705"/>
        <pc:sldMkLst>
          <pc:docMk/>
          <pc:sldMk cId="3298015562" sldId="282"/>
        </pc:sldMkLst>
        <pc:spChg chg="add mod">
          <ac:chgData name="Selvaraj, Koushik" userId="84b0a011-a644-4927-86c7-313b61325c1d" providerId="ADAL" clId="{9B020CE6-206C-4340-A74D-0FFC1AFFB705}" dt="2026-05-03T03:51:37.823" v="705"/>
          <ac:spMkLst>
            <pc:docMk/>
            <pc:sldMk cId="3298015562" sldId="282"/>
            <ac:spMk id="2" creationId="{3384A11D-B608-DDB8-5D10-8EB617274314}"/>
          </ac:spMkLst>
        </pc:spChg>
        <pc:spChg chg="add mod">
          <ac:chgData name="Selvaraj, Koushik" userId="84b0a011-a644-4927-86c7-313b61325c1d" providerId="ADAL" clId="{9B020CE6-206C-4340-A74D-0FFC1AFFB705}" dt="2026-05-03T03:51:37.823" v="705"/>
          <ac:spMkLst>
            <pc:docMk/>
            <pc:sldMk cId="3298015562" sldId="282"/>
            <ac:spMk id="4" creationId="{ECB6BAFA-45B0-81D1-DE03-DB0A4F3BC935}"/>
          </ac:spMkLst>
        </pc:spChg>
        <pc:spChg chg="add mod">
          <ac:chgData name="Selvaraj, Koushik" userId="84b0a011-a644-4927-86c7-313b61325c1d" providerId="ADAL" clId="{9B020CE6-206C-4340-A74D-0FFC1AFFB705}" dt="2026-05-03T03:51:37.823" v="705"/>
          <ac:spMkLst>
            <pc:docMk/>
            <pc:sldMk cId="3298015562" sldId="282"/>
            <ac:spMk id="5" creationId="{5A8662D9-9ADB-8A6A-6A89-CA5388025B4A}"/>
          </ac:spMkLst>
        </pc:spChg>
        <pc:spChg chg="add mod">
          <ac:chgData name="Selvaraj, Koushik" userId="84b0a011-a644-4927-86c7-313b61325c1d" providerId="ADAL" clId="{9B020CE6-206C-4340-A74D-0FFC1AFFB705}" dt="2026-05-03T03:51:37.823" v="705"/>
          <ac:spMkLst>
            <pc:docMk/>
            <pc:sldMk cId="3298015562" sldId="282"/>
            <ac:spMk id="6" creationId="{7CFD6F8B-32ED-F74D-8470-4CC0210E0305}"/>
          </ac:spMkLst>
        </pc:spChg>
        <pc:spChg chg="add mod">
          <ac:chgData name="Selvaraj, Koushik" userId="84b0a011-a644-4927-86c7-313b61325c1d" providerId="ADAL" clId="{9B020CE6-206C-4340-A74D-0FFC1AFFB705}" dt="2026-05-03T03:51:37.823" v="705"/>
          <ac:spMkLst>
            <pc:docMk/>
            <pc:sldMk cId="3298015562" sldId="282"/>
            <ac:spMk id="7" creationId="{CD2DC837-615D-417E-C0B1-D8B157EA2469}"/>
          </ac:spMkLst>
        </pc:spChg>
        <pc:spChg chg="add mod">
          <ac:chgData name="Selvaraj, Koushik" userId="84b0a011-a644-4927-86c7-313b61325c1d" providerId="ADAL" clId="{9B020CE6-206C-4340-A74D-0FFC1AFFB705}" dt="2026-05-03T03:51:37.823" v="705"/>
          <ac:spMkLst>
            <pc:docMk/>
            <pc:sldMk cId="3298015562" sldId="282"/>
            <ac:spMk id="8" creationId="{AC9861DA-67B6-18ED-EE96-6DED5B953394}"/>
          </ac:spMkLst>
        </pc:spChg>
        <pc:spChg chg="add mod">
          <ac:chgData name="Selvaraj, Koushik" userId="84b0a011-a644-4927-86c7-313b61325c1d" providerId="ADAL" clId="{9B020CE6-206C-4340-A74D-0FFC1AFFB705}" dt="2026-05-03T03:51:37.823" v="705"/>
          <ac:spMkLst>
            <pc:docMk/>
            <pc:sldMk cId="3298015562" sldId="282"/>
            <ac:spMk id="16" creationId="{13F8DEED-33C6-71BC-0EF3-D5D3AB7D527E}"/>
          </ac:spMkLst>
        </pc:spChg>
        <pc:spChg chg="add mod">
          <ac:chgData name="Selvaraj, Koushik" userId="84b0a011-a644-4927-86c7-313b61325c1d" providerId="ADAL" clId="{9B020CE6-206C-4340-A74D-0FFC1AFFB705}" dt="2026-05-03T03:51:37.823" v="705"/>
          <ac:spMkLst>
            <pc:docMk/>
            <pc:sldMk cId="3298015562" sldId="282"/>
            <ac:spMk id="17" creationId="{4F2B4465-0B2A-FE25-E039-C5D5373A94B3}"/>
          </ac:spMkLst>
        </pc:spChg>
        <pc:spChg chg="add mod">
          <ac:chgData name="Selvaraj, Koushik" userId="84b0a011-a644-4927-86c7-313b61325c1d" providerId="ADAL" clId="{9B020CE6-206C-4340-A74D-0FFC1AFFB705}" dt="2026-05-03T03:51:37.823" v="705"/>
          <ac:spMkLst>
            <pc:docMk/>
            <pc:sldMk cId="3298015562" sldId="282"/>
            <ac:spMk id="21" creationId="{24354740-9739-29BD-4E34-801C8DDEA449}"/>
          </ac:spMkLst>
        </pc:spChg>
        <pc:spChg chg="add mod">
          <ac:chgData name="Selvaraj, Koushik" userId="84b0a011-a644-4927-86c7-313b61325c1d" providerId="ADAL" clId="{9B020CE6-206C-4340-A74D-0FFC1AFFB705}" dt="2026-05-03T03:51:37.823" v="705"/>
          <ac:spMkLst>
            <pc:docMk/>
            <pc:sldMk cId="3298015562" sldId="282"/>
            <ac:spMk id="22" creationId="{1E9C496C-B326-18B5-8FEA-E48B037F730E}"/>
          </ac:spMkLst>
        </pc:spChg>
        <pc:spChg chg="mod">
          <ac:chgData name="Selvaraj, Koushik" userId="84b0a011-a644-4927-86c7-313b61325c1d" providerId="ADAL" clId="{9B020CE6-206C-4340-A74D-0FFC1AFFB705}" dt="2026-05-03T02:25:50.668" v="698" actId="20577"/>
          <ac:spMkLst>
            <pc:docMk/>
            <pc:sldMk cId="3298015562" sldId="282"/>
            <ac:spMk id="129" creationId="{4F22B260-816A-64B9-3830-8456AB98DF8F}"/>
          </ac:spMkLst>
        </pc:spChg>
        <pc:picChg chg="del">
          <ac:chgData name="Selvaraj, Koushik" userId="84b0a011-a644-4927-86c7-313b61325c1d" providerId="ADAL" clId="{9B020CE6-206C-4340-A74D-0FFC1AFFB705}" dt="2026-05-03T02:25:19.305" v="662" actId="478"/>
          <ac:picMkLst>
            <pc:docMk/>
            <pc:sldMk cId="3298015562" sldId="282"/>
            <ac:picMk id="2" creationId="{8E82A50A-CDCF-8F9F-DD7B-3978D221CA54}"/>
          </ac:picMkLst>
        </pc:picChg>
        <pc:picChg chg="add mod">
          <ac:chgData name="Selvaraj, Koushik" userId="84b0a011-a644-4927-86c7-313b61325c1d" providerId="ADAL" clId="{9B020CE6-206C-4340-A74D-0FFC1AFFB705}" dt="2026-05-03T02:26:19.346" v="702" actId="1076"/>
          <ac:picMkLst>
            <pc:docMk/>
            <pc:sldMk cId="3298015562" sldId="282"/>
            <ac:picMk id="3" creationId="{FC0118A6-B8BC-267E-C39A-FF25C431F21F}"/>
          </ac:picMkLst>
        </pc:picChg>
        <pc:picChg chg="add">
          <ac:chgData name="Selvaraj, Koushik" userId="84b0a011-a644-4927-86c7-313b61325c1d" providerId="ADAL" clId="{9B020CE6-206C-4340-A74D-0FFC1AFFB705}" dt="2026-05-03T02:25:16.347" v="661"/>
          <ac:picMkLst>
            <pc:docMk/>
            <pc:sldMk cId="3298015562" sldId="282"/>
            <ac:picMk id="1025" creationId="{3E44B741-7874-2510-0BB8-A620CA24A00D}"/>
          </ac:picMkLst>
        </pc:picChg>
        <pc:picChg chg="add mod">
          <ac:chgData name="Selvaraj, Koushik" userId="84b0a011-a644-4927-86c7-313b61325c1d" providerId="ADAL" clId="{9B020CE6-206C-4340-A74D-0FFC1AFFB705}" dt="2026-05-03T02:26:16.777" v="700" actId="1076"/>
          <ac:picMkLst>
            <pc:docMk/>
            <pc:sldMk cId="3298015562" sldId="282"/>
            <ac:picMk id="1026" creationId="{D0C9AA0F-B596-05D1-3582-F6A537C2F44E}"/>
          </ac:picMkLst>
        </pc:picChg>
      </pc:sldChg>
      <pc:sldChg chg="addSp delSp modSp new del mod">
        <pc:chgData name="Selvaraj, Koushik" userId="84b0a011-a644-4927-86c7-313b61325c1d" providerId="ADAL" clId="{9B020CE6-206C-4340-A74D-0FFC1AFFB705}" dt="2026-05-03T03:52:29.800" v="713" actId="47"/>
        <pc:sldMkLst>
          <pc:docMk/>
          <pc:sldMk cId="1080816944" sldId="283"/>
        </pc:sldMkLst>
        <pc:spChg chg="del">
          <ac:chgData name="Selvaraj, Koushik" userId="84b0a011-a644-4927-86c7-313b61325c1d" providerId="ADAL" clId="{9B020CE6-206C-4340-A74D-0FFC1AFFB705}" dt="2026-05-03T03:51:48.752" v="707" actId="478"/>
          <ac:spMkLst>
            <pc:docMk/>
            <pc:sldMk cId="1080816944" sldId="283"/>
            <ac:spMk id="3" creationId="{159F9CCF-5690-5044-0251-F8C5408941F2}"/>
          </ac:spMkLst>
        </pc:spChg>
        <pc:spChg chg="add mod">
          <ac:chgData name="Selvaraj, Koushik" userId="84b0a011-a644-4927-86c7-313b61325c1d" providerId="ADAL" clId="{9B020CE6-206C-4340-A74D-0FFC1AFFB705}" dt="2026-05-03T03:51:53.530" v="710" actId="14100"/>
          <ac:spMkLst>
            <pc:docMk/>
            <pc:sldMk cId="1080816944" sldId="283"/>
            <ac:spMk id="4" creationId="{956A09DC-EDCC-1D08-7E25-B53AAF481E24}"/>
          </ac:spMkLst>
        </pc:spChg>
        <pc:spChg chg="add mod">
          <ac:chgData name="Selvaraj, Koushik" userId="84b0a011-a644-4927-86c7-313b61325c1d" providerId="ADAL" clId="{9B020CE6-206C-4340-A74D-0FFC1AFFB705}" dt="2026-05-03T03:51:53.530" v="710" actId="14100"/>
          <ac:spMkLst>
            <pc:docMk/>
            <pc:sldMk cId="1080816944" sldId="283"/>
            <ac:spMk id="5" creationId="{073009DE-6903-1494-A0B2-ACEB9A0CB836}"/>
          </ac:spMkLst>
        </pc:spChg>
        <pc:spChg chg="add mod">
          <ac:chgData name="Selvaraj, Koushik" userId="84b0a011-a644-4927-86c7-313b61325c1d" providerId="ADAL" clId="{9B020CE6-206C-4340-A74D-0FFC1AFFB705}" dt="2026-05-03T03:51:53.530" v="710" actId="14100"/>
          <ac:spMkLst>
            <pc:docMk/>
            <pc:sldMk cId="1080816944" sldId="283"/>
            <ac:spMk id="6" creationId="{A52ED557-A2B7-5610-C847-1C5FE0C5A52B}"/>
          </ac:spMkLst>
        </pc:spChg>
        <pc:spChg chg="add mod">
          <ac:chgData name="Selvaraj, Koushik" userId="84b0a011-a644-4927-86c7-313b61325c1d" providerId="ADAL" clId="{9B020CE6-206C-4340-A74D-0FFC1AFFB705}" dt="2026-05-03T03:51:53.530" v="710" actId="14100"/>
          <ac:spMkLst>
            <pc:docMk/>
            <pc:sldMk cId="1080816944" sldId="283"/>
            <ac:spMk id="7" creationId="{2951B8C5-C0D5-33E3-6595-D830C65E1251}"/>
          </ac:spMkLst>
        </pc:spChg>
        <pc:spChg chg="add mod">
          <ac:chgData name="Selvaraj, Koushik" userId="84b0a011-a644-4927-86c7-313b61325c1d" providerId="ADAL" clId="{9B020CE6-206C-4340-A74D-0FFC1AFFB705}" dt="2026-05-03T03:51:53.530" v="710" actId="14100"/>
          <ac:spMkLst>
            <pc:docMk/>
            <pc:sldMk cId="1080816944" sldId="283"/>
            <ac:spMk id="8" creationId="{F772FF8E-5029-EC8F-4635-4DDD9C48A7C0}"/>
          </ac:spMkLst>
        </pc:spChg>
        <pc:spChg chg="add mod">
          <ac:chgData name="Selvaraj, Koushik" userId="84b0a011-a644-4927-86c7-313b61325c1d" providerId="ADAL" clId="{9B020CE6-206C-4340-A74D-0FFC1AFFB705}" dt="2026-05-03T03:51:53.530" v="710" actId="14100"/>
          <ac:spMkLst>
            <pc:docMk/>
            <pc:sldMk cId="1080816944" sldId="283"/>
            <ac:spMk id="9" creationId="{F665943F-510B-C109-7101-FAD6FC19CF2C}"/>
          </ac:spMkLst>
        </pc:spChg>
        <pc:spChg chg="add mod">
          <ac:chgData name="Selvaraj, Koushik" userId="84b0a011-a644-4927-86c7-313b61325c1d" providerId="ADAL" clId="{9B020CE6-206C-4340-A74D-0FFC1AFFB705}" dt="2026-05-03T03:51:53.530" v="710" actId="14100"/>
          <ac:spMkLst>
            <pc:docMk/>
            <pc:sldMk cId="1080816944" sldId="283"/>
            <ac:spMk id="17" creationId="{C6558629-DC3F-F561-6051-5D07CDCF7191}"/>
          </ac:spMkLst>
        </pc:spChg>
        <pc:spChg chg="add mod">
          <ac:chgData name="Selvaraj, Koushik" userId="84b0a011-a644-4927-86c7-313b61325c1d" providerId="ADAL" clId="{9B020CE6-206C-4340-A74D-0FFC1AFFB705}" dt="2026-05-03T03:51:53.530" v="710" actId="14100"/>
          <ac:spMkLst>
            <pc:docMk/>
            <pc:sldMk cId="1080816944" sldId="283"/>
            <ac:spMk id="18" creationId="{1CAF4C2D-A1BC-4C5C-98CF-ECA0AC50FB38}"/>
          </ac:spMkLst>
        </pc:spChg>
        <pc:spChg chg="add mod">
          <ac:chgData name="Selvaraj, Koushik" userId="84b0a011-a644-4927-86c7-313b61325c1d" providerId="ADAL" clId="{9B020CE6-206C-4340-A74D-0FFC1AFFB705}" dt="2026-05-03T03:51:53.530" v="710" actId="14100"/>
          <ac:spMkLst>
            <pc:docMk/>
            <pc:sldMk cId="1080816944" sldId="283"/>
            <ac:spMk id="22" creationId="{8169D94F-6151-16BE-CD4D-0A02ECEA7E98}"/>
          </ac:spMkLst>
        </pc:spChg>
        <pc:spChg chg="add mod">
          <ac:chgData name="Selvaraj, Koushik" userId="84b0a011-a644-4927-86c7-313b61325c1d" providerId="ADAL" clId="{9B020CE6-206C-4340-A74D-0FFC1AFFB705}" dt="2026-05-03T03:51:53.530" v="710" actId="14100"/>
          <ac:spMkLst>
            <pc:docMk/>
            <pc:sldMk cId="1080816944" sldId="283"/>
            <ac:spMk id="23" creationId="{65BCBDB2-9E69-852B-6DB9-A4161F9AE65D}"/>
          </ac:spMkLst>
        </pc:spChg>
        <pc:spChg chg="add mod">
          <ac:chgData name="Selvaraj, Koushik" userId="84b0a011-a644-4927-86c7-313b61325c1d" providerId="ADAL" clId="{9B020CE6-206C-4340-A74D-0FFC1AFFB705}" dt="2026-05-03T03:52:00.291" v="711"/>
          <ac:spMkLst>
            <pc:docMk/>
            <pc:sldMk cId="1080816944" sldId="283"/>
            <ac:spMk id="24" creationId="{249EBC13-4867-0785-2E10-72C1BDDDA63A}"/>
          </ac:spMkLst>
        </pc:spChg>
        <pc:spChg chg="add mod">
          <ac:chgData name="Selvaraj, Koushik" userId="84b0a011-a644-4927-86c7-313b61325c1d" providerId="ADAL" clId="{9B020CE6-206C-4340-A74D-0FFC1AFFB705}" dt="2026-05-03T03:52:00.291" v="711"/>
          <ac:spMkLst>
            <pc:docMk/>
            <pc:sldMk cId="1080816944" sldId="283"/>
            <ac:spMk id="25" creationId="{7F209BAF-DB6C-06CC-0BAA-5C55D30C2CEA}"/>
          </ac:spMkLst>
        </pc:spChg>
        <pc:spChg chg="add mod">
          <ac:chgData name="Selvaraj, Koushik" userId="84b0a011-a644-4927-86c7-313b61325c1d" providerId="ADAL" clId="{9B020CE6-206C-4340-A74D-0FFC1AFFB705}" dt="2026-05-03T03:52:00.291" v="711"/>
          <ac:spMkLst>
            <pc:docMk/>
            <pc:sldMk cId="1080816944" sldId="283"/>
            <ac:spMk id="26" creationId="{C4CBF967-8745-58B3-4C39-C2728E9D985E}"/>
          </ac:spMkLst>
        </pc:spChg>
        <pc:spChg chg="add mod">
          <ac:chgData name="Selvaraj, Koushik" userId="84b0a011-a644-4927-86c7-313b61325c1d" providerId="ADAL" clId="{9B020CE6-206C-4340-A74D-0FFC1AFFB705}" dt="2026-05-03T03:52:00.291" v="711"/>
          <ac:spMkLst>
            <pc:docMk/>
            <pc:sldMk cId="1080816944" sldId="283"/>
            <ac:spMk id="27" creationId="{AC8F3DF0-BC20-06D0-8A16-419CB6140E68}"/>
          </ac:spMkLst>
        </pc:spChg>
        <pc:spChg chg="add mod">
          <ac:chgData name="Selvaraj, Koushik" userId="84b0a011-a644-4927-86c7-313b61325c1d" providerId="ADAL" clId="{9B020CE6-206C-4340-A74D-0FFC1AFFB705}" dt="2026-05-03T03:52:00.291" v="711"/>
          <ac:spMkLst>
            <pc:docMk/>
            <pc:sldMk cId="1080816944" sldId="283"/>
            <ac:spMk id="28" creationId="{7B6344ED-3778-82EB-F6D9-C00AF1BD04B3}"/>
          </ac:spMkLst>
        </pc:spChg>
        <pc:spChg chg="add mod">
          <ac:chgData name="Selvaraj, Koushik" userId="84b0a011-a644-4927-86c7-313b61325c1d" providerId="ADAL" clId="{9B020CE6-206C-4340-A74D-0FFC1AFFB705}" dt="2026-05-03T03:52:00.291" v="711"/>
          <ac:spMkLst>
            <pc:docMk/>
            <pc:sldMk cId="1080816944" sldId="283"/>
            <ac:spMk id="29" creationId="{F43A4546-3968-74D4-867C-3E880277E84B}"/>
          </ac:spMkLst>
        </pc:spChg>
        <pc:spChg chg="add mod">
          <ac:chgData name="Selvaraj, Koushik" userId="84b0a011-a644-4927-86c7-313b61325c1d" providerId="ADAL" clId="{9B020CE6-206C-4340-A74D-0FFC1AFFB705}" dt="2026-05-03T03:52:00.291" v="711"/>
          <ac:spMkLst>
            <pc:docMk/>
            <pc:sldMk cId="1080816944" sldId="283"/>
            <ac:spMk id="37" creationId="{BFF86F5E-C2DC-1C8B-224F-F418EF608359}"/>
          </ac:spMkLst>
        </pc:spChg>
        <pc:spChg chg="add mod">
          <ac:chgData name="Selvaraj, Koushik" userId="84b0a011-a644-4927-86c7-313b61325c1d" providerId="ADAL" clId="{9B020CE6-206C-4340-A74D-0FFC1AFFB705}" dt="2026-05-03T03:52:00.291" v="711"/>
          <ac:spMkLst>
            <pc:docMk/>
            <pc:sldMk cId="1080816944" sldId="283"/>
            <ac:spMk id="38" creationId="{DEBEA7B4-EABF-E360-6AB2-2A709D14BB61}"/>
          </ac:spMkLst>
        </pc:spChg>
        <pc:spChg chg="add mod">
          <ac:chgData name="Selvaraj, Koushik" userId="84b0a011-a644-4927-86c7-313b61325c1d" providerId="ADAL" clId="{9B020CE6-206C-4340-A74D-0FFC1AFFB705}" dt="2026-05-03T03:52:00.291" v="711"/>
          <ac:spMkLst>
            <pc:docMk/>
            <pc:sldMk cId="1080816944" sldId="283"/>
            <ac:spMk id="42" creationId="{7A77AC94-8EB5-3B94-9DC5-75533681CC71}"/>
          </ac:spMkLst>
        </pc:spChg>
        <pc:spChg chg="add mod">
          <ac:chgData name="Selvaraj, Koushik" userId="84b0a011-a644-4927-86c7-313b61325c1d" providerId="ADAL" clId="{9B020CE6-206C-4340-A74D-0FFC1AFFB705}" dt="2026-05-03T03:52:00.291" v="711"/>
          <ac:spMkLst>
            <pc:docMk/>
            <pc:sldMk cId="1080816944" sldId="283"/>
            <ac:spMk id="43" creationId="{A50C7FF9-79C9-BE2E-D215-4FDA5AFEDC60}"/>
          </ac:spMkLst>
        </pc:spChg>
      </pc:sldChg>
      <pc:sldChg chg="addSp modSp add mod">
        <pc:chgData name="Selvaraj, Koushik" userId="84b0a011-a644-4927-86c7-313b61325c1d" providerId="ADAL" clId="{9B020CE6-206C-4340-A74D-0FFC1AFFB705}" dt="2026-05-03T03:54:28.014" v="744" actId="11529"/>
        <pc:sldMkLst>
          <pc:docMk/>
          <pc:sldMk cId="3837778056" sldId="284"/>
        </pc:sldMkLst>
        <pc:spChg chg="add mod">
          <ac:chgData name="Selvaraj, Koushik" userId="84b0a011-a644-4927-86c7-313b61325c1d" providerId="ADAL" clId="{9B020CE6-206C-4340-A74D-0FFC1AFFB705}" dt="2026-05-03T03:52:48.985" v="725" actId="1076"/>
          <ac:spMkLst>
            <pc:docMk/>
            <pc:sldMk cId="3837778056" sldId="284"/>
            <ac:spMk id="2" creationId="{D66C9DAA-3890-C6CB-0E8A-FCB3B808A065}"/>
          </ac:spMkLst>
        </pc:spChg>
        <pc:spChg chg="add mod">
          <ac:chgData name="Selvaraj, Koushik" userId="84b0a011-a644-4927-86c7-313b61325c1d" providerId="ADAL" clId="{9B020CE6-206C-4340-A74D-0FFC1AFFB705}" dt="2026-05-03T03:53:44.816" v="735" actId="20577"/>
          <ac:spMkLst>
            <pc:docMk/>
            <pc:sldMk cId="3837778056" sldId="284"/>
            <ac:spMk id="3" creationId="{4840DB8B-417E-F8C1-5BA9-44F700126A92}"/>
          </ac:spMkLst>
        </pc:spChg>
        <pc:spChg chg="add mod">
          <ac:chgData name="Selvaraj, Koushik" userId="84b0a011-a644-4927-86c7-313b61325c1d" providerId="ADAL" clId="{9B020CE6-206C-4340-A74D-0FFC1AFFB705}" dt="2026-05-03T03:54:02.575" v="743" actId="20577"/>
          <ac:spMkLst>
            <pc:docMk/>
            <pc:sldMk cId="3837778056" sldId="284"/>
            <ac:spMk id="10" creationId="{5F0FE812-4585-2883-999F-A7D2EFB46E1F}"/>
          </ac:spMkLst>
        </pc:spChg>
        <pc:spChg chg="mod">
          <ac:chgData name="Selvaraj, Koushik" userId="84b0a011-a644-4927-86c7-313b61325c1d" providerId="ADAL" clId="{9B020CE6-206C-4340-A74D-0FFC1AFFB705}" dt="2026-05-03T03:53:24.167" v="726" actId="1076"/>
          <ac:spMkLst>
            <pc:docMk/>
            <pc:sldMk cId="3837778056" sldId="284"/>
            <ac:spMk id="37" creationId="{717D7EAA-DC19-8445-3179-7B1AC1377F8E}"/>
          </ac:spMkLst>
        </pc:spChg>
        <pc:cxnChg chg="add">
          <ac:chgData name="Selvaraj, Koushik" userId="84b0a011-a644-4927-86c7-313b61325c1d" providerId="ADAL" clId="{9B020CE6-206C-4340-A74D-0FFC1AFFB705}" dt="2026-05-03T03:54:28.014" v="744" actId="11529"/>
          <ac:cxnSpMkLst>
            <pc:docMk/>
            <pc:sldMk cId="3837778056" sldId="284"/>
            <ac:cxnSpMk id="14" creationId="{2364DF1B-6C28-923C-8B0A-7BD8EF0E7A4E}"/>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5" name="Google Shape;8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Depict your overall work abstract as a diagram</a:t>
            </a:r>
            <a:endParaRPr/>
          </a:p>
        </p:txBody>
      </p:sp>
      <p:sp>
        <p:nvSpPr>
          <p:cNvPr id="92" name="Google Shape;92;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C0B8D97B-CCE9-D264-2F44-556FFDFF225A}"/>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7E3A171D-47D3-366C-715A-EAA0ED18191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2:notes">
            <a:extLst>
              <a:ext uri="{FF2B5EF4-FFF2-40B4-BE49-F238E27FC236}">
                <a16:creationId xmlns:a16="http://schemas.microsoft.com/office/drawing/2014/main" id="{3F792C02-0FAD-B131-AB2E-CABCFC5D5E7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Depict your overall work abstract as a diagram</a:t>
            </a:r>
            <a:endParaRPr/>
          </a:p>
        </p:txBody>
      </p:sp>
      <p:sp>
        <p:nvSpPr>
          <p:cNvPr id="92" name="Google Shape;92;p2:notes">
            <a:extLst>
              <a:ext uri="{FF2B5EF4-FFF2-40B4-BE49-F238E27FC236}">
                <a16:creationId xmlns:a16="http://schemas.microsoft.com/office/drawing/2014/main" id="{A55E5891-3132-C097-2A09-BF01A009B18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3</a:t>
            </a:fld>
            <a:endParaRPr/>
          </a:p>
        </p:txBody>
      </p:sp>
    </p:spTree>
    <p:extLst>
      <p:ext uri="{BB962C8B-B14F-4D97-AF65-F5344CB8AC3E}">
        <p14:creationId xmlns:p14="http://schemas.microsoft.com/office/powerpoint/2010/main" val="1514789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75EA0980-ADDC-0FF1-5A17-8F9751CAD805}"/>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B948A83D-47E4-6C41-0C47-C4977C28E67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2:notes">
            <a:extLst>
              <a:ext uri="{FF2B5EF4-FFF2-40B4-BE49-F238E27FC236}">
                <a16:creationId xmlns:a16="http://schemas.microsoft.com/office/drawing/2014/main" id="{E4619B99-27B3-5D56-1642-9F1C110CAF0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Depict your overall work abstract as a diagram</a:t>
            </a:r>
            <a:endParaRPr/>
          </a:p>
        </p:txBody>
      </p:sp>
      <p:sp>
        <p:nvSpPr>
          <p:cNvPr id="92" name="Google Shape;92;p2:notes">
            <a:extLst>
              <a:ext uri="{FF2B5EF4-FFF2-40B4-BE49-F238E27FC236}">
                <a16:creationId xmlns:a16="http://schemas.microsoft.com/office/drawing/2014/main" id="{3268654A-E6E5-8570-6AC4-23A96420827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4</a:t>
            </a:fld>
            <a:endParaRPr/>
          </a:p>
        </p:txBody>
      </p:sp>
    </p:spTree>
    <p:extLst>
      <p:ext uri="{BB962C8B-B14F-4D97-AF65-F5344CB8AC3E}">
        <p14:creationId xmlns:p14="http://schemas.microsoft.com/office/powerpoint/2010/main" val="345505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68F0D3FB-21B9-EE0E-760B-E595B04AE159}"/>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8D9DB428-B9AC-9277-FD92-9D7BB37E0C4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2:notes">
            <a:extLst>
              <a:ext uri="{FF2B5EF4-FFF2-40B4-BE49-F238E27FC236}">
                <a16:creationId xmlns:a16="http://schemas.microsoft.com/office/drawing/2014/main" id="{79C8DAFD-4922-A52C-60BE-5D6EF86DBC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Depict your overall work abstract as a diagram</a:t>
            </a:r>
            <a:endParaRPr/>
          </a:p>
        </p:txBody>
      </p:sp>
      <p:sp>
        <p:nvSpPr>
          <p:cNvPr id="92" name="Google Shape;92;p2:notes">
            <a:extLst>
              <a:ext uri="{FF2B5EF4-FFF2-40B4-BE49-F238E27FC236}">
                <a16:creationId xmlns:a16="http://schemas.microsoft.com/office/drawing/2014/main" id="{F9F5E540-2D28-B800-3B4B-CBCF1DD1CF3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5</a:t>
            </a:fld>
            <a:endParaRPr/>
          </a:p>
        </p:txBody>
      </p:sp>
    </p:spTree>
    <p:extLst>
      <p:ext uri="{BB962C8B-B14F-4D97-AF65-F5344CB8AC3E}">
        <p14:creationId xmlns:p14="http://schemas.microsoft.com/office/powerpoint/2010/main" val="3228813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83141242-6113-4B82-1A9D-FC8858820283}"/>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DDCF070D-E8E7-A5DC-A4AB-8001947A7ED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2:notes">
            <a:extLst>
              <a:ext uri="{FF2B5EF4-FFF2-40B4-BE49-F238E27FC236}">
                <a16:creationId xmlns:a16="http://schemas.microsoft.com/office/drawing/2014/main" id="{6EB3E5BC-CB63-B4D0-0A1A-655C42A981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Depict your overall work abstract as a diagram</a:t>
            </a:r>
            <a:endParaRPr/>
          </a:p>
        </p:txBody>
      </p:sp>
      <p:sp>
        <p:nvSpPr>
          <p:cNvPr id="92" name="Google Shape;92;p2:notes">
            <a:extLst>
              <a:ext uri="{FF2B5EF4-FFF2-40B4-BE49-F238E27FC236}">
                <a16:creationId xmlns:a16="http://schemas.microsoft.com/office/drawing/2014/main" id="{AF7DC1F7-3CA3-823D-9D99-9CED0E6C416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6</a:t>
            </a:fld>
            <a:endParaRPr/>
          </a:p>
        </p:txBody>
      </p:sp>
    </p:spTree>
    <p:extLst>
      <p:ext uri="{BB962C8B-B14F-4D97-AF65-F5344CB8AC3E}">
        <p14:creationId xmlns:p14="http://schemas.microsoft.com/office/powerpoint/2010/main" val="3373231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61D20C3C-4EB2-1F1F-5EA5-3D5CFE86414A}"/>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4A1B1F22-FE49-E249-BE74-DA0A36531AF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2:notes">
            <a:extLst>
              <a:ext uri="{FF2B5EF4-FFF2-40B4-BE49-F238E27FC236}">
                <a16:creationId xmlns:a16="http://schemas.microsoft.com/office/drawing/2014/main" id="{4658790A-F6BA-9B98-54E5-09D3F6EFCA0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Depict your overall work abstract as a diagram</a:t>
            </a:r>
            <a:endParaRPr/>
          </a:p>
        </p:txBody>
      </p:sp>
      <p:sp>
        <p:nvSpPr>
          <p:cNvPr id="92" name="Google Shape;92;p2:notes">
            <a:extLst>
              <a:ext uri="{FF2B5EF4-FFF2-40B4-BE49-F238E27FC236}">
                <a16:creationId xmlns:a16="http://schemas.microsoft.com/office/drawing/2014/main" id="{1486C214-CE06-0BE1-185B-CA380B194D1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7</a:t>
            </a:fld>
            <a:endParaRPr/>
          </a:p>
        </p:txBody>
      </p:sp>
    </p:spTree>
    <p:extLst>
      <p:ext uri="{BB962C8B-B14F-4D97-AF65-F5344CB8AC3E}">
        <p14:creationId xmlns:p14="http://schemas.microsoft.com/office/powerpoint/2010/main" val="12989848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List what are all the problems/gaps in your problem area</a:t>
            </a:r>
            <a:endParaRPr/>
          </a:p>
        </p:txBody>
      </p:sp>
      <p:sp>
        <p:nvSpPr>
          <p:cNvPr id="99" name="Google Shape;99;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55731C67-6F3E-9E62-00F3-E2C45A22A29D}"/>
            </a:ext>
          </a:extLst>
        </p:cNvPr>
        <p:cNvGrpSpPr/>
        <p:nvPr/>
      </p:nvGrpSpPr>
      <p:grpSpPr>
        <a:xfrm>
          <a:off x="0" y="0"/>
          <a:ext cx="0" cy="0"/>
          <a:chOff x="0" y="0"/>
          <a:chExt cx="0" cy="0"/>
        </a:xfrm>
      </p:grpSpPr>
      <p:sp>
        <p:nvSpPr>
          <p:cNvPr id="125" name="Google Shape;125;p7:notes">
            <a:extLst>
              <a:ext uri="{FF2B5EF4-FFF2-40B4-BE49-F238E27FC236}">
                <a16:creationId xmlns:a16="http://schemas.microsoft.com/office/drawing/2014/main" id="{E023AE06-A8DA-C89B-DA2B-0EBE9511B5E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7:notes">
            <a:extLst>
              <a:ext uri="{FF2B5EF4-FFF2-40B4-BE49-F238E27FC236}">
                <a16:creationId xmlns:a16="http://schemas.microsoft.com/office/drawing/2014/main" id="{4957A8ED-A5B6-3273-0AD0-04F580DB91A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With a flow chart/work flow diagram, explain the modules of Phase I and Phase II</a:t>
            </a:r>
            <a:endParaRPr/>
          </a:p>
        </p:txBody>
      </p:sp>
      <p:sp>
        <p:nvSpPr>
          <p:cNvPr id="127" name="Google Shape;127;p7:notes">
            <a:extLst>
              <a:ext uri="{FF2B5EF4-FFF2-40B4-BE49-F238E27FC236}">
                <a16:creationId xmlns:a16="http://schemas.microsoft.com/office/drawing/2014/main" id="{9149588D-050C-01AC-929B-07EDE0D43E59}"/>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extLst>
      <p:ext uri="{BB962C8B-B14F-4D97-AF65-F5344CB8AC3E}">
        <p14:creationId xmlns:p14="http://schemas.microsoft.com/office/powerpoint/2010/main" val="2186097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91D25C3A-463F-A5EC-4FB6-6E22A506593D}"/>
            </a:ext>
          </a:extLst>
        </p:cNvPr>
        <p:cNvGrpSpPr/>
        <p:nvPr/>
      </p:nvGrpSpPr>
      <p:grpSpPr>
        <a:xfrm>
          <a:off x="0" y="0"/>
          <a:ext cx="0" cy="0"/>
          <a:chOff x="0" y="0"/>
          <a:chExt cx="0" cy="0"/>
        </a:xfrm>
      </p:grpSpPr>
      <p:sp>
        <p:nvSpPr>
          <p:cNvPr id="125" name="Google Shape;125;p7:notes">
            <a:extLst>
              <a:ext uri="{FF2B5EF4-FFF2-40B4-BE49-F238E27FC236}">
                <a16:creationId xmlns:a16="http://schemas.microsoft.com/office/drawing/2014/main" id="{895D8B47-6058-A8CE-64E6-D45EBD8B962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7:notes">
            <a:extLst>
              <a:ext uri="{FF2B5EF4-FFF2-40B4-BE49-F238E27FC236}">
                <a16:creationId xmlns:a16="http://schemas.microsoft.com/office/drawing/2014/main" id="{180E77BC-B229-2F40-1E1C-4E9DC6F167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With a flow chart/work flow diagram, explain the modules of Phase I and Phase II</a:t>
            </a:r>
            <a:endParaRPr/>
          </a:p>
        </p:txBody>
      </p:sp>
      <p:sp>
        <p:nvSpPr>
          <p:cNvPr id="127" name="Google Shape;127;p7:notes">
            <a:extLst>
              <a:ext uri="{FF2B5EF4-FFF2-40B4-BE49-F238E27FC236}">
                <a16:creationId xmlns:a16="http://schemas.microsoft.com/office/drawing/2014/main" id="{E06D8BB2-F4EC-7D48-AF62-3972057820B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extLst>
      <p:ext uri="{BB962C8B-B14F-4D97-AF65-F5344CB8AC3E}">
        <p14:creationId xmlns:p14="http://schemas.microsoft.com/office/powerpoint/2010/main" val="3151295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77288E9C-B4CB-ADA0-6C5A-116FBFEE6F4B}"/>
            </a:ext>
          </a:extLst>
        </p:cNvPr>
        <p:cNvGrpSpPr/>
        <p:nvPr/>
      </p:nvGrpSpPr>
      <p:grpSpPr>
        <a:xfrm>
          <a:off x="0" y="0"/>
          <a:ext cx="0" cy="0"/>
          <a:chOff x="0" y="0"/>
          <a:chExt cx="0" cy="0"/>
        </a:xfrm>
      </p:grpSpPr>
      <p:sp>
        <p:nvSpPr>
          <p:cNvPr id="125" name="Google Shape;125;p7:notes">
            <a:extLst>
              <a:ext uri="{FF2B5EF4-FFF2-40B4-BE49-F238E27FC236}">
                <a16:creationId xmlns:a16="http://schemas.microsoft.com/office/drawing/2014/main" id="{814B6F1F-FAC5-830A-3BEE-FE89BE5B1FD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7:notes">
            <a:extLst>
              <a:ext uri="{FF2B5EF4-FFF2-40B4-BE49-F238E27FC236}">
                <a16:creationId xmlns:a16="http://schemas.microsoft.com/office/drawing/2014/main" id="{AC3B8AF8-64D6-0EE3-E144-D9A9BBED3B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With a flow chart/work flow diagram, explain the modules of Phase I and Phase II</a:t>
            </a:r>
            <a:endParaRPr/>
          </a:p>
        </p:txBody>
      </p:sp>
      <p:sp>
        <p:nvSpPr>
          <p:cNvPr id="127" name="Google Shape;127;p7:notes">
            <a:extLst>
              <a:ext uri="{FF2B5EF4-FFF2-40B4-BE49-F238E27FC236}">
                <a16:creationId xmlns:a16="http://schemas.microsoft.com/office/drawing/2014/main" id="{67BF4131-0D20-F576-3C55-68C2312769F2}"/>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15</a:t>
            </a:fld>
            <a:endParaRPr/>
          </a:p>
        </p:txBody>
      </p:sp>
    </p:spTree>
    <p:extLst>
      <p:ext uri="{BB962C8B-B14F-4D97-AF65-F5344CB8AC3E}">
        <p14:creationId xmlns:p14="http://schemas.microsoft.com/office/powerpoint/2010/main" val="1533861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47ED0897-3751-7CC2-152B-CDE55DA060C1}"/>
            </a:ext>
          </a:extLst>
        </p:cNvPr>
        <p:cNvGrpSpPr/>
        <p:nvPr/>
      </p:nvGrpSpPr>
      <p:grpSpPr>
        <a:xfrm>
          <a:off x="0" y="0"/>
          <a:ext cx="0" cy="0"/>
          <a:chOff x="0" y="0"/>
          <a:chExt cx="0" cy="0"/>
        </a:xfrm>
      </p:grpSpPr>
      <p:sp>
        <p:nvSpPr>
          <p:cNvPr id="125" name="Google Shape;125;p7:notes">
            <a:extLst>
              <a:ext uri="{FF2B5EF4-FFF2-40B4-BE49-F238E27FC236}">
                <a16:creationId xmlns:a16="http://schemas.microsoft.com/office/drawing/2014/main" id="{19155D49-21AB-66BD-F3B1-1BECD03F921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7:notes">
            <a:extLst>
              <a:ext uri="{FF2B5EF4-FFF2-40B4-BE49-F238E27FC236}">
                <a16:creationId xmlns:a16="http://schemas.microsoft.com/office/drawing/2014/main" id="{AEBC3EFD-0603-C56C-B7E9-306899A5CC0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With a flow chart/work flow diagram, explain the modules of Phase I and Phase II</a:t>
            </a:r>
            <a:endParaRPr/>
          </a:p>
        </p:txBody>
      </p:sp>
      <p:sp>
        <p:nvSpPr>
          <p:cNvPr id="127" name="Google Shape;127;p7:notes">
            <a:extLst>
              <a:ext uri="{FF2B5EF4-FFF2-40B4-BE49-F238E27FC236}">
                <a16:creationId xmlns:a16="http://schemas.microsoft.com/office/drawing/2014/main" id="{1BF1EB7F-9323-3655-D197-80D264100DD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16</a:t>
            </a:fld>
            <a:endParaRPr/>
          </a:p>
        </p:txBody>
      </p:sp>
    </p:spTree>
    <p:extLst>
      <p:ext uri="{BB962C8B-B14F-4D97-AF65-F5344CB8AC3E}">
        <p14:creationId xmlns:p14="http://schemas.microsoft.com/office/powerpoint/2010/main" val="834433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43A47F2F-EB78-B2EE-ECD2-742927DED76F}"/>
            </a:ext>
          </a:extLst>
        </p:cNvPr>
        <p:cNvGrpSpPr/>
        <p:nvPr/>
      </p:nvGrpSpPr>
      <p:grpSpPr>
        <a:xfrm>
          <a:off x="0" y="0"/>
          <a:ext cx="0" cy="0"/>
          <a:chOff x="0" y="0"/>
          <a:chExt cx="0" cy="0"/>
        </a:xfrm>
      </p:grpSpPr>
      <p:sp>
        <p:nvSpPr>
          <p:cNvPr id="125" name="Google Shape;125;p7:notes">
            <a:extLst>
              <a:ext uri="{FF2B5EF4-FFF2-40B4-BE49-F238E27FC236}">
                <a16:creationId xmlns:a16="http://schemas.microsoft.com/office/drawing/2014/main" id="{46D6DEF4-486A-D924-F4D3-A623A18984C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7:notes">
            <a:extLst>
              <a:ext uri="{FF2B5EF4-FFF2-40B4-BE49-F238E27FC236}">
                <a16:creationId xmlns:a16="http://schemas.microsoft.com/office/drawing/2014/main" id="{B9A0FC64-0034-1B6F-93A2-E853DAAC19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With a flow chart/work flow diagram, explain the modules of Phase I and Phase II</a:t>
            </a:r>
            <a:endParaRPr/>
          </a:p>
        </p:txBody>
      </p:sp>
      <p:sp>
        <p:nvSpPr>
          <p:cNvPr id="127" name="Google Shape;127;p7:notes">
            <a:extLst>
              <a:ext uri="{FF2B5EF4-FFF2-40B4-BE49-F238E27FC236}">
                <a16:creationId xmlns:a16="http://schemas.microsoft.com/office/drawing/2014/main" id="{983F4C36-BCC9-0838-7144-A2231EE637B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17</a:t>
            </a:fld>
            <a:endParaRPr/>
          </a:p>
        </p:txBody>
      </p:sp>
    </p:spTree>
    <p:extLst>
      <p:ext uri="{BB962C8B-B14F-4D97-AF65-F5344CB8AC3E}">
        <p14:creationId xmlns:p14="http://schemas.microsoft.com/office/powerpoint/2010/main" val="3088832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6792757E-491A-1E26-0E4D-B87EC27ABD05}"/>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F88929FC-03B7-4593-490D-FA352DA7BBB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2:notes">
            <a:extLst>
              <a:ext uri="{FF2B5EF4-FFF2-40B4-BE49-F238E27FC236}">
                <a16:creationId xmlns:a16="http://schemas.microsoft.com/office/drawing/2014/main" id="{F81FCB88-2730-8A2E-4C30-12A11B6516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Depict your overall work abstract as a diagram</a:t>
            </a:r>
            <a:endParaRPr/>
          </a:p>
        </p:txBody>
      </p:sp>
      <p:sp>
        <p:nvSpPr>
          <p:cNvPr id="92" name="Google Shape;92;p2:notes">
            <a:extLst>
              <a:ext uri="{FF2B5EF4-FFF2-40B4-BE49-F238E27FC236}">
                <a16:creationId xmlns:a16="http://schemas.microsoft.com/office/drawing/2014/main" id="{12104A11-973E-D382-A5CB-37E9E2BEC54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18</a:t>
            </a:fld>
            <a:endParaRPr/>
          </a:p>
        </p:txBody>
      </p:sp>
    </p:spTree>
    <p:extLst>
      <p:ext uri="{BB962C8B-B14F-4D97-AF65-F5344CB8AC3E}">
        <p14:creationId xmlns:p14="http://schemas.microsoft.com/office/powerpoint/2010/main" val="6329458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4F83BB2A-4C85-EFED-9BFB-99D74167ACA5}"/>
            </a:ext>
          </a:extLst>
        </p:cNvPr>
        <p:cNvGrpSpPr/>
        <p:nvPr/>
      </p:nvGrpSpPr>
      <p:grpSpPr>
        <a:xfrm>
          <a:off x="0" y="0"/>
          <a:ext cx="0" cy="0"/>
          <a:chOff x="0" y="0"/>
          <a:chExt cx="0" cy="0"/>
        </a:xfrm>
      </p:grpSpPr>
      <p:sp>
        <p:nvSpPr>
          <p:cNvPr id="125" name="Google Shape;125;p7:notes">
            <a:extLst>
              <a:ext uri="{FF2B5EF4-FFF2-40B4-BE49-F238E27FC236}">
                <a16:creationId xmlns:a16="http://schemas.microsoft.com/office/drawing/2014/main" id="{307874F1-2E5E-627D-300C-C718ABB00BF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7:notes">
            <a:extLst>
              <a:ext uri="{FF2B5EF4-FFF2-40B4-BE49-F238E27FC236}">
                <a16:creationId xmlns:a16="http://schemas.microsoft.com/office/drawing/2014/main" id="{5AB30EDC-E2AF-E762-1321-E5D4F83BCF9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With a flow chart/work flow diagram, explain the modules of Phase I and Phase II</a:t>
            </a:r>
            <a:endParaRPr/>
          </a:p>
        </p:txBody>
      </p:sp>
      <p:sp>
        <p:nvSpPr>
          <p:cNvPr id="127" name="Google Shape;127;p7:notes">
            <a:extLst>
              <a:ext uri="{FF2B5EF4-FFF2-40B4-BE49-F238E27FC236}">
                <a16:creationId xmlns:a16="http://schemas.microsoft.com/office/drawing/2014/main" id="{7313D944-ACC4-0A0A-E3D0-5C9C58DFAB3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19</a:t>
            </a:fld>
            <a:endParaRPr/>
          </a:p>
        </p:txBody>
      </p:sp>
    </p:spTree>
    <p:extLst>
      <p:ext uri="{BB962C8B-B14F-4D97-AF65-F5344CB8AC3E}">
        <p14:creationId xmlns:p14="http://schemas.microsoft.com/office/powerpoint/2010/main" val="14489962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4ABC4E36-B395-5A29-76F9-F5C8246A16B7}"/>
            </a:ext>
          </a:extLst>
        </p:cNvPr>
        <p:cNvGrpSpPr/>
        <p:nvPr/>
      </p:nvGrpSpPr>
      <p:grpSpPr>
        <a:xfrm>
          <a:off x="0" y="0"/>
          <a:ext cx="0" cy="0"/>
          <a:chOff x="0" y="0"/>
          <a:chExt cx="0" cy="0"/>
        </a:xfrm>
      </p:grpSpPr>
      <p:sp>
        <p:nvSpPr>
          <p:cNvPr id="125" name="Google Shape;125;p7:notes">
            <a:extLst>
              <a:ext uri="{FF2B5EF4-FFF2-40B4-BE49-F238E27FC236}">
                <a16:creationId xmlns:a16="http://schemas.microsoft.com/office/drawing/2014/main" id="{625D9A90-76F2-9B97-5BA5-B147E46143D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7:notes">
            <a:extLst>
              <a:ext uri="{FF2B5EF4-FFF2-40B4-BE49-F238E27FC236}">
                <a16:creationId xmlns:a16="http://schemas.microsoft.com/office/drawing/2014/main" id="{31DA6F51-4B36-198B-485F-B6704212C3E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With a flow chart/work flow diagram, explain the modules of Phase I and Phase II</a:t>
            </a:r>
            <a:endParaRPr/>
          </a:p>
        </p:txBody>
      </p:sp>
      <p:sp>
        <p:nvSpPr>
          <p:cNvPr id="127" name="Google Shape;127;p7:notes">
            <a:extLst>
              <a:ext uri="{FF2B5EF4-FFF2-40B4-BE49-F238E27FC236}">
                <a16:creationId xmlns:a16="http://schemas.microsoft.com/office/drawing/2014/main" id="{63B25123-A619-281F-7597-7C63CBE45E6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20</a:t>
            </a:fld>
            <a:endParaRPr/>
          </a:p>
        </p:txBody>
      </p:sp>
    </p:spTree>
    <p:extLst>
      <p:ext uri="{BB962C8B-B14F-4D97-AF65-F5344CB8AC3E}">
        <p14:creationId xmlns:p14="http://schemas.microsoft.com/office/powerpoint/2010/main" val="3524575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AF60AB7B-5458-B149-5905-70FCAE5A4272}"/>
            </a:ext>
          </a:extLst>
        </p:cNvPr>
        <p:cNvGrpSpPr/>
        <p:nvPr/>
      </p:nvGrpSpPr>
      <p:grpSpPr>
        <a:xfrm>
          <a:off x="0" y="0"/>
          <a:ext cx="0" cy="0"/>
          <a:chOff x="0" y="0"/>
          <a:chExt cx="0" cy="0"/>
        </a:xfrm>
      </p:grpSpPr>
      <p:sp>
        <p:nvSpPr>
          <p:cNvPr id="125" name="Google Shape;125;p7:notes">
            <a:extLst>
              <a:ext uri="{FF2B5EF4-FFF2-40B4-BE49-F238E27FC236}">
                <a16:creationId xmlns:a16="http://schemas.microsoft.com/office/drawing/2014/main" id="{7AAB22E8-5DEC-2146-B379-56F64B673E5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7:notes">
            <a:extLst>
              <a:ext uri="{FF2B5EF4-FFF2-40B4-BE49-F238E27FC236}">
                <a16:creationId xmlns:a16="http://schemas.microsoft.com/office/drawing/2014/main" id="{C4E3F8D6-34A3-D492-E8B7-18534F80E24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With a flow chart/work flow diagram, explain the modules of Phase I and Phase II</a:t>
            </a:r>
            <a:endParaRPr/>
          </a:p>
        </p:txBody>
      </p:sp>
      <p:sp>
        <p:nvSpPr>
          <p:cNvPr id="127" name="Google Shape;127;p7:notes">
            <a:extLst>
              <a:ext uri="{FF2B5EF4-FFF2-40B4-BE49-F238E27FC236}">
                <a16:creationId xmlns:a16="http://schemas.microsoft.com/office/drawing/2014/main" id="{2E6B96B7-8D69-ECED-4D55-89C20F2197D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21</a:t>
            </a:fld>
            <a:endParaRPr/>
          </a:p>
        </p:txBody>
      </p:sp>
    </p:spTree>
    <p:extLst>
      <p:ext uri="{BB962C8B-B14F-4D97-AF65-F5344CB8AC3E}">
        <p14:creationId xmlns:p14="http://schemas.microsoft.com/office/powerpoint/2010/main" val="6979800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pic>
        <p:nvPicPr>
          <p:cNvPr id="2" name="Google Shape;95;p1" descr="pngfind.com-kingpin-png-4152286 (1).png">
            <a:extLst>
              <a:ext uri="{FF2B5EF4-FFF2-40B4-BE49-F238E27FC236}">
                <a16:creationId xmlns:a16="http://schemas.microsoft.com/office/drawing/2014/main" id="{6457C73C-7C3F-2B42-E49E-A002BBC43DE9}"/>
              </a:ext>
            </a:extLst>
          </p:cNvPr>
          <p:cNvPicPr preferRelativeResize="0"/>
          <p:nvPr userDrawn="1"/>
        </p:nvPicPr>
        <p:blipFill rotWithShape="1">
          <a:blip r:embed="rId2">
            <a:alphaModFix/>
          </a:blip>
          <a:srcRect/>
          <a:stretch/>
        </p:blipFill>
        <p:spPr>
          <a:xfrm>
            <a:off x="7411914" y="92267"/>
            <a:ext cx="1638301" cy="7166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 name="Google Shape;95;p1" descr="pngfind.com-kingpin-png-4152286 (1).png">
            <a:extLst>
              <a:ext uri="{FF2B5EF4-FFF2-40B4-BE49-F238E27FC236}">
                <a16:creationId xmlns:a16="http://schemas.microsoft.com/office/drawing/2014/main" id="{06FD8DB1-11F1-9800-4CBB-E817EA3F4288}"/>
              </a:ext>
            </a:extLst>
          </p:cNvPr>
          <p:cNvPicPr preferRelativeResize="0"/>
          <p:nvPr userDrawn="1"/>
        </p:nvPicPr>
        <p:blipFill rotWithShape="1">
          <a:blip r:embed="rId2">
            <a:alphaModFix/>
          </a:blip>
          <a:srcRect/>
          <a:stretch/>
        </p:blipFill>
        <p:spPr>
          <a:xfrm>
            <a:off x="7578968" y="28424"/>
            <a:ext cx="1565031" cy="56945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2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2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9" name="Google Shape;29;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2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5" name="Google Shape;35;p2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2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2" name="Google Shape;42;p2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3" name="Google Shape;43;p2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4" name="Google Shape;44;p2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5" name="Google Shape;45;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2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0" name="Google Shape;60;p2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1" name="Google Shape;61;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6"/>
          <p:cNvSpPr>
            <a:spLocks noGrp="1"/>
          </p:cNvSpPr>
          <p:nvPr>
            <p:ph type="pic" idx="2"/>
          </p:nvPr>
        </p:nvSpPr>
        <p:spPr>
          <a:xfrm>
            <a:off x="1792288" y="612775"/>
            <a:ext cx="5486400" cy="4114800"/>
          </a:xfrm>
          <a:prstGeom prst="rect">
            <a:avLst/>
          </a:prstGeom>
          <a:noFill/>
          <a:ln>
            <a:noFill/>
          </a:ln>
        </p:spPr>
      </p:sp>
      <p:sp>
        <p:nvSpPr>
          <p:cNvPr id="67" name="Google Shape;67;p2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8" name="Google Shape;68;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2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4" name="Google Shape;74;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2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0" name="Google Shape;8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795152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2332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hyperlink" Target="https://bytez.com/docs/neurips/120285/paper?_c=eyJ2IjoxLCJyZWxhdGVkIjpbImNvZGUiLCJyZWZlcmVuY2VzIiwiY29uZmVyZW5jZSJdfQ%3D%3D#id-13" TargetMode="External"/><Relationship Id="rId3" Type="http://schemas.openxmlformats.org/officeDocument/2006/relationships/hyperlink" Target="https://bytez.com/docs/neurips/120285/paper?_c=eyJ2IjoxLCJyZWxhdGVkIjpbImNvZGUiLCJyZWZlcmVuY2VzIiwiY29uZmVyZW5jZSJdfQ%3D%3D#id-8" TargetMode="External"/><Relationship Id="rId7" Type="http://schemas.openxmlformats.org/officeDocument/2006/relationships/hyperlink" Target="https://bytez.com/docs/neurips/120285/paper?_c=eyJ2IjoxLCJyZWxhdGVkIjpbImNvZGUiLCJyZWZlcmVuY2VzIiwiY29uZmVyZW5jZSJdfQ%3D%3D#id-12" TargetMode="External"/><Relationship Id="rId12" Type="http://schemas.openxmlformats.org/officeDocument/2006/relationships/hyperlink" Target="https://bytez.com/docs/neurips/120285/paper?_c=eyJ2IjoxLCJyZWxhdGVkIjpbImNvZGUiLCJyZWZlcmVuY2VzIiwiY29uZmVyZW5jZSJdfQ%3D%3D#id-18"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bytez.com/docs/neurips/120285/paper?_c=eyJ2IjoxLCJyZWxhdGVkIjpbImNvZGUiLCJyZWZlcmVuY2VzIiwiY29uZmVyZW5jZSJdfQ%3D%3D#id-11" TargetMode="External"/><Relationship Id="rId11" Type="http://schemas.openxmlformats.org/officeDocument/2006/relationships/hyperlink" Target="https://bytez.com/docs/neurips/120285/paper?_c=eyJ2IjoxLCJyZWxhdGVkIjpbImNvZGUiLCJyZWZlcmVuY2VzIiwiY29uZmVyZW5jZSJdfQ%3D%3D#id-15" TargetMode="External"/><Relationship Id="rId5" Type="http://schemas.openxmlformats.org/officeDocument/2006/relationships/hyperlink" Target="https://bytez.com/docs/neurips/120285/paper?_c=eyJ2IjoxLCJyZWxhdGVkIjpbImNvZGUiLCJyZWZlcmVuY2VzIiwiY29uZmVyZW5jZSJdfQ%3D%3D#id-9" TargetMode="External"/><Relationship Id="rId10" Type="http://schemas.openxmlformats.org/officeDocument/2006/relationships/hyperlink" Target="https://bytez.com/docs/neurips/120285/paper?_c=eyJ2IjoxLCJyZWxhdGVkIjpbImNvZGUiLCJyZWZlcmVuY2VzIiwiY29uZmVyZW5jZSJdfQ%3D%3D#id-14" TargetMode="External"/><Relationship Id="rId4" Type="http://schemas.openxmlformats.org/officeDocument/2006/relationships/hyperlink" Target="https://bytez.com/docs/neurips/120285/paper?_c=eyJ2IjoxLCJyZWxhdGVkIjpbImNvZGUiLCJyZWZlcmVuY2VzIiwiY29uZmVyZW5jZSJdfQ%3D%3D#id-4" TargetMode="External"/><Relationship Id="rId9" Type="http://schemas.openxmlformats.org/officeDocument/2006/relationships/hyperlink" Target="https://bytez.com/docs/neurips/120285/paper?_c=eyJ2IjoxLCJyZWxhdGVkIjpbImNvZGUiLCJyZWZlcmVuY2VzIiwiY29uZmVyZW5jZSJdfQ%3D%3D#id-17"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bytez.com/docs/neurips/120285/paper?_c=eyJ2IjoxLCJyZWxhdGVkIjpbImNvZGUiLCJyZWZlcmVuY2VzIiwiY29uZmVyZW5jZSJdfQ%3D%3D#id-19"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bytez.com/docs/neurips/120285/paper?_c=eyJ2IjoxLCJyZWxhdGVkIjpbImNvZGUiLCJyZWZlcmVuY2VzIiwiY29uZmVyZW5jZSJdfQ%3D%3D#id-4" TargetMode="External"/><Relationship Id="rId5" Type="http://schemas.openxmlformats.org/officeDocument/2006/relationships/hyperlink" Target="https://bytez.com/docs/neurips/120285/paper?_c=eyJ2IjoxLCJyZWxhdGVkIjpbImNvZGUiLCJyZWZlcmVuY2VzIiwiY29uZmVyZW5jZSJdfQ%3D%3D#id-21" TargetMode="External"/><Relationship Id="rId4" Type="http://schemas.openxmlformats.org/officeDocument/2006/relationships/hyperlink" Target="https://bytez.com/docs/neurips/120285/paper?_c=eyJ2IjoxLCJyZWxhdGVkIjpbImNvZGUiLCJyZWZlcmVuY2VzIiwiY29uZmVyZW5jZSJdfQ%3D%3D#id-20"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
          <p:cNvSpPr txBox="1">
            <a:spLocks noGrp="1"/>
          </p:cNvSpPr>
          <p:nvPr>
            <p:ph type="ctrTitle"/>
          </p:nvPr>
        </p:nvSpPr>
        <p:spPr>
          <a:xfrm>
            <a:off x="770779" y="1285754"/>
            <a:ext cx="7772400" cy="1470025"/>
          </a:xfrm>
          <a:prstGeom prst="rect">
            <a:avLst/>
          </a:prstGeom>
          <a:noFill/>
          <a:ln>
            <a:noFill/>
          </a:ln>
        </p:spPr>
        <p:txBody>
          <a:bodyPr spcFirstLastPara="1" wrap="square" lIns="91425" tIns="45700" rIns="91425" bIns="45700" anchor="ctr" anchorCtr="0">
            <a:normAutofit/>
          </a:bodyPr>
          <a:lstStyle/>
          <a:p>
            <a:pPr lvl="0">
              <a:buSzPts val="4400"/>
            </a:pPr>
            <a:r>
              <a:rPr lang="en-GB" dirty="0"/>
              <a:t>Dynamic Workflow Framework for Agentic Reasoning With Tools</a:t>
            </a:r>
            <a:endParaRPr dirty="0"/>
          </a:p>
        </p:txBody>
      </p:sp>
      <p:sp>
        <p:nvSpPr>
          <p:cNvPr id="88" name="Google Shape;88;p1"/>
          <p:cNvSpPr txBox="1">
            <a:spLocks noGrp="1"/>
          </p:cNvSpPr>
          <p:nvPr>
            <p:ph type="subTitle" idx="1"/>
          </p:nvPr>
        </p:nvSpPr>
        <p:spPr>
          <a:xfrm>
            <a:off x="631371" y="4001668"/>
            <a:ext cx="3494314" cy="1233598"/>
          </a:xfrm>
          <a:prstGeom prst="rect">
            <a:avLst/>
          </a:prstGeom>
          <a:noFill/>
          <a:ln>
            <a:noFill/>
          </a:ln>
        </p:spPr>
        <p:txBody>
          <a:bodyPr spcFirstLastPara="1" wrap="square" lIns="91425" tIns="45700" rIns="91425" bIns="45700" anchor="t" anchorCtr="0">
            <a:noAutofit/>
          </a:bodyPr>
          <a:lstStyle/>
          <a:p>
            <a:pPr algn="l" fontAlgn="base"/>
            <a:r>
              <a:rPr lang="en-IN" sz="2400" dirty="0"/>
              <a:t>Koushik Selvaraj </a:t>
            </a:r>
          </a:p>
          <a:p>
            <a:pPr algn="l" fontAlgn="base"/>
            <a:r>
              <a:rPr lang="en-IN" sz="2400" dirty="0"/>
              <a:t>RA2412049015105</a:t>
            </a:r>
            <a:endParaRPr sz="2400" dirty="0"/>
          </a:p>
        </p:txBody>
      </p:sp>
      <p:sp>
        <p:nvSpPr>
          <p:cNvPr id="2" name="Google Shape;88;p1">
            <a:extLst>
              <a:ext uri="{FF2B5EF4-FFF2-40B4-BE49-F238E27FC236}">
                <a16:creationId xmlns:a16="http://schemas.microsoft.com/office/drawing/2014/main" id="{4A01EE79-1C4E-B8C8-583C-5EE7E564E90E}"/>
              </a:ext>
            </a:extLst>
          </p:cNvPr>
          <p:cNvSpPr txBox="1">
            <a:spLocks/>
          </p:cNvSpPr>
          <p:nvPr/>
        </p:nvSpPr>
        <p:spPr>
          <a:xfrm>
            <a:off x="5453743" y="4001669"/>
            <a:ext cx="3058886" cy="123359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algn="l" fontAlgn="base"/>
            <a:r>
              <a:rPr lang="en-IN" sz="2000" dirty="0"/>
              <a:t>Guided By</a:t>
            </a:r>
          </a:p>
          <a:p>
            <a:pPr algn="l" fontAlgn="base"/>
            <a:r>
              <a:rPr lang="en-IN" sz="2000" dirty="0"/>
              <a:t>Dr. Syed Anwar </a:t>
            </a:r>
            <a:r>
              <a:rPr lang="en-IN" sz="2000" dirty="0" err="1"/>
              <a:t>Hussainy</a:t>
            </a:r>
            <a:r>
              <a:rPr lang="en-IN" sz="2000" dirty="0"/>
              <a:t> F</a:t>
            </a:r>
          </a:p>
        </p:txBody>
      </p:sp>
      <p:sp>
        <p:nvSpPr>
          <p:cNvPr id="3" name="Google Shape;88;p1">
            <a:extLst>
              <a:ext uri="{FF2B5EF4-FFF2-40B4-BE49-F238E27FC236}">
                <a16:creationId xmlns:a16="http://schemas.microsoft.com/office/drawing/2014/main" id="{F2E4EA63-B002-3AA4-5D37-F695DB6D8C28}"/>
              </a:ext>
            </a:extLst>
          </p:cNvPr>
          <p:cNvSpPr txBox="1">
            <a:spLocks/>
          </p:cNvSpPr>
          <p:nvPr/>
        </p:nvSpPr>
        <p:spPr>
          <a:xfrm>
            <a:off x="3200401" y="2721305"/>
            <a:ext cx="2438400" cy="6574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algn="l" fontAlgn="base"/>
            <a:r>
              <a:rPr lang="en-IN" sz="2400" dirty="0"/>
              <a:t>Research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ctrTitle"/>
          </p:nvPr>
        </p:nvSpPr>
        <p:spPr>
          <a:xfrm>
            <a:off x="172616" y="484200"/>
            <a:ext cx="7772400" cy="735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IN" dirty="0"/>
              <a:t>Abstract</a:t>
            </a:r>
            <a:endParaRPr dirty="0"/>
          </a:p>
        </p:txBody>
      </p:sp>
      <p:sp>
        <p:nvSpPr>
          <p:cNvPr id="2" name="Google Shape;94;p2">
            <a:extLst>
              <a:ext uri="{FF2B5EF4-FFF2-40B4-BE49-F238E27FC236}">
                <a16:creationId xmlns:a16="http://schemas.microsoft.com/office/drawing/2014/main" id="{5B30FBBE-5B5A-D8EA-0AF8-0A6A588DCD27}"/>
              </a:ext>
            </a:extLst>
          </p:cNvPr>
          <p:cNvSpPr txBox="1">
            <a:spLocks/>
          </p:cNvSpPr>
          <p:nvPr/>
        </p:nvSpPr>
        <p:spPr>
          <a:xfrm>
            <a:off x="285686" y="1344522"/>
            <a:ext cx="8258545" cy="502927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buSzPts val="4400"/>
            </a:pPr>
            <a:r>
              <a:rPr lang="en-GB" sz="2000" dirty="0"/>
              <a:t>Agent systems based on large language models (LLMs) have shown great potential in complex reasoning tasks but building efficient and generalizable workflows remains a major challenge. Most existing approaches rely on </a:t>
            </a:r>
            <a:r>
              <a:rPr lang="en-GB" sz="2000" b="1" dirty="0"/>
              <a:t>manually designed processes</a:t>
            </a:r>
            <a:r>
              <a:rPr lang="en-GB" sz="2000" dirty="0"/>
              <a:t>, which limits their adaptability across different tasks. While a few methods attempt automated </a:t>
            </a:r>
            <a:r>
              <a:rPr lang="en-GB" sz="2000" b="1" dirty="0"/>
              <a:t>workflow generation</a:t>
            </a:r>
            <a:r>
              <a:rPr lang="en-GB" sz="2000" dirty="0"/>
              <a:t>, they are often tied to specific datasets or query types and make limited use of </a:t>
            </a:r>
            <a:r>
              <a:rPr lang="en-GB" sz="2000" b="1" dirty="0"/>
              <a:t>intermediate feedback</a:t>
            </a:r>
            <a:r>
              <a:rPr lang="en-GB" sz="2000" dirty="0"/>
              <a:t>, reducing system robustness and reasoning depth. Moreover, their operations are typically predefined and inflexible. To address these limitations, we propose a dynamic workflow generation framework that adaptively constructs and adjusts reasoning procedures based on task requirements and real-time intermediate feedback, thereby enhancing cross-task generalization.</a:t>
            </a:r>
            <a:endParaRPr lang="en-IN"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E7D56C28-5ECC-1BD9-2E48-1E2FE7A75C01}"/>
            </a:ext>
          </a:extLst>
        </p:cNvPr>
        <p:cNvGrpSpPr/>
        <p:nvPr/>
      </p:nvGrpSpPr>
      <p:grpSpPr>
        <a:xfrm>
          <a:off x="0" y="0"/>
          <a:ext cx="0" cy="0"/>
          <a:chOff x="0" y="0"/>
          <a:chExt cx="0" cy="0"/>
        </a:xfrm>
      </p:grpSpPr>
      <p:sp>
        <p:nvSpPr>
          <p:cNvPr id="94" name="Google Shape;94;p2">
            <a:extLst>
              <a:ext uri="{FF2B5EF4-FFF2-40B4-BE49-F238E27FC236}">
                <a16:creationId xmlns:a16="http://schemas.microsoft.com/office/drawing/2014/main" id="{4D8966BA-2CE6-9C02-E1CA-EE71DDB6CC5F}"/>
              </a:ext>
            </a:extLst>
          </p:cNvPr>
          <p:cNvSpPr txBox="1">
            <a:spLocks noGrp="1"/>
          </p:cNvSpPr>
          <p:nvPr>
            <p:ph type="ctrTitle"/>
          </p:nvPr>
        </p:nvSpPr>
        <p:spPr>
          <a:xfrm>
            <a:off x="251274" y="383379"/>
            <a:ext cx="7772400" cy="735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IN" dirty="0"/>
              <a:t>Introduction</a:t>
            </a:r>
            <a:endParaRPr dirty="0"/>
          </a:p>
        </p:txBody>
      </p:sp>
      <p:sp>
        <p:nvSpPr>
          <p:cNvPr id="2" name="Google Shape;94;p2">
            <a:extLst>
              <a:ext uri="{FF2B5EF4-FFF2-40B4-BE49-F238E27FC236}">
                <a16:creationId xmlns:a16="http://schemas.microsoft.com/office/drawing/2014/main" id="{A310660C-2FBA-16CF-1145-DBF95235CD3E}"/>
              </a:ext>
            </a:extLst>
          </p:cNvPr>
          <p:cNvSpPr txBox="1">
            <a:spLocks/>
          </p:cNvSpPr>
          <p:nvPr/>
        </p:nvSpPr>
        <p:spPr>
          <a:xfrm>
            <a:off x="354512" y="1118379"/>
            <a:ext cx="8258545" cy="548889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GB" sz="1600" b="1" dirty="0"/>
              <a:t>2.1 Static and Dynamic Agentic Workflows</a:t>
            </a:r>
            <a:endParaRPr lang="en-GB" sz="1600" dirty="0"/>
          </a:p>
          <a:p>
            <a:pPr algn="l"/>
            <a:r>
              <a:rPr lang="en-GB" sz="1600" dirty="0"/>
              <a:t>Many LLM-based agent systems are built upon static workflows, where agent roles, execution order, and interaction protocols are predefined and fixed throughout the task. For example, </a:t>
            </a:r>
            <a:r>
              <a:rPr lang="en-GB" sz="1600" b="1" dirty="0" err="1"/>
              <a:t>MetaGPT</a:t>
            </a:r>
            <a:r>
              <a:rPr lang="en-GB" sz="1600" dirty="0"/>
              <a:t> [</a:t>
            </a:r>
            <a:r>
              <a:rPr lang="en-GB" sz="1600" dirty="0">
                <a:hlinkClick r:id="rId3"/>
              </a:rPr>
              <a:t>9</a:t>
            </a:r>
            <a:r>
              <a:rPr lang="en-GB" sz="1600" dirty="0"/>
              <a:t>] follows standard operating procedures (SOPs) encoded into prompt templates to coordinate collaborative coding, while </a:t>
            </a:r>
            <a:r>
              <a:rPr lang="en-GB" sz="1600" b="1" dirty="0" err="1"/>
              <a:t>AutoGen</a:t>
            </a:r>
            <a:r>
              <a:rPr lang="en-GB" sz="1600" dirty="0"/>
              <a:t> [</a:t>
            </a:r>
            <a:r>
              <a:rPr lang="en-GB" sz="1600" dirty="0">
                <a:hlinkClick r:id="rId4"/>
              </a:rPr>
              <a:t>5</a:t>
            </a:r>
            <a:r>
              <a:rPr lang="en-GB" sz="1600" dirty="0"/>
              <a:t>] orchestrates multi-agent dialogues through rigid communication graphs. CAMEL [</a:t>
            </a:r>
            <a:r>
              <a:rPr lang="en-GB" sz="1600" dirty="0">
                <a:hlinkClick r:id="rId5"/>
              </a:rPr>
              <a:t>10</a:t>
            </a:r>
            <a:r>
              <a:rPr lang="en-GB" sz="1600" dirty="0"/>
              <a:t>] and </a:t>
            </a:r>
            <a:r>
              <a:rPr lang="en-GB" sz="1600" b="1" dirty="0" err="1"/>
              <a:t>OpenAgents</a:t>
            </a:r>
            <a:r>
              <a:rPr lang="en-GB" sz="1600" dirty="0"/>
              <a:t> [</a:t>
            </a:r>
            <a:r>
              <a:rPr lang="en-GB" sz="1600" dirty="0">
                <a:hlinkClick r:id="rId6"/>
              </a:rPr>
              <a:t>11</a:t>
            </a:r>
            <a:r>
              <a:rPr lang="en-GB" sz="1600" dirty="0"/>
              <a:t>] further reinforce this paradigm by hard-coding agent roles or API usage. </a:t>
            </a:r>
          </a:p>
          <a:p>
            <a:pPr algn="l"/>
            <a:r>
              <a:rPr lang="en-GB" sz="1600" dirty="0"/>
              <a:t>	Although such designs facilitate structured cooperation, they lack the capacity to </a:t>
            </a:r>
            <a:r>
              <a:rPr lang="en-GB" sz="1600" b="1" dirty="0"/>
              <a:t>revise plans in response to failures </a:t>
            </a:r>
            <a:r>
              <a:rPr lang="en-GB" sz="1600" dirty="0"/>
              <a:t>or evolving context, resulting in limited robustness and adaptability.</a:t>
            </a:r>
          </a:p>
          <a:p>
            <a:pPr algn="l"/>
            <a:endParaRPr lang="en-GB" sz="1600" dirty="0"/>
          </a:p>
          <a:p>
            <a:pPr algn="l"/>
            <a:r>
              <a:rPr lang="en-GB" sz="1600" dirty="0"/>
              <a:t>To reduce reliance on manual design, a line of research has explored automated agent construction. </a:t>
            </a:r>
            <a:r>
              <a:rPr lang="en-GB" sz="1600" b="1" dirty="0" err="1"/>
              <a:t>AFlow</a:t>
            </a:r>
            <a:r>
              <a:rPr lang="en-GB" sz="1600" dirty="0"/>
              <a:t> [</a:t>
            </a:r>
            <a:r>
              <a:rPr lang="en-GB" sz="1600" dirty="0">
                <a:hlinkClick r:id="rId7"/>
              </a:rPr>
              <a:t>12</a:t>
            </a:r>
            <a:r>
              <a:rPr lang="en-GB" sz="1600" dirty="0"/>
              <a:t>] refines code-centric workflows using Monte Carlo Tree Search, </a:t>
            </a:r>
            <a:r>
              <a:rPr lang="en-GB" sz="1600" b="1" dirty="0"/>
              <a:t>ADAS</a:t>
            </a:r>
            <a:r>
              <a:rPr lang="en-GB" sz="1600" dirty="0"/>
              <a:t> [</a:t>
            </a:r>
            <a:r>
              <a:rPr lang="en-GB" sz="1600" dirty="0">
                <a:hlinkClick r:id="rId8"/>
              </a:rPr>
              <a:t>13</a:t>
            </a:r>
            <a:r>
              <a:rPr lang="en-GB" sz="1600" dirty="0"/>
              <a:t>] performs meta-search over agent architectures, and </a:t>
            </a:r>
            <a:r>
              <a:rPr lang="en-GB" sz="1600" b="1" dirty="0" err="1"/>
              <a:t>AgentSquare</a:t>
            </a:r>
            <a:r>
              <a:rPr lang="en-GB" sz="1600" dirty="0"/>
              <a:t> [</a:t>
            </a:r>
            <a:r>
              <a:rPr lang="en-GB" sz="1600" dirty="0">
                <a:hlinkClick r:id="rId9"/>
              </a:rPr>
              <a:t>17</a:t>
            </a:r>
            <a:r>
              <a:rPr lang="en-GB" sz="1600" dirty="0"/>
              <a:t>] evolves modular components via composition. These systems automate workflow design, yet they still adopt one-shot planning: once constructed, the workflow remains fixed during execution. Other methods such as </a:t>
            </a:r>
            <a:r>
              <a:rPr lang="en-GB" sz="1600" b="1" dirty="0" err="1"/>
              <a:t>DyLAN</a:t>
            </a:r>
            <a:r>
              <a:rPr lang="en-GB" sz="1600" dirty="0"/>
              <a:t> [</a:t>
            </a:r>
            <a:r>
              <a:rPr lang="en-GB" sz="1600" dirty="0">
                <a:hlinkClick r:id="rId10"/>
              </a:rPr>
              <a:t>14</a:t>
            </a:r>
            <a:r>
              <a:rPr lang="en-GB" sz="1600" dirty="0"/>
              <a:t>] and </a:t>
            </a:r>
            <a:r>
              <a:rPr lang="en-GB" sz="1600" b="1" dirty="0" err="1"/>
              <a:t>MaAS</a:t>
            </a:r>
            <a:r>
              <a:rPr lang="en-GB" sz="1600" dirty="0"/>
              <a:t> [</a:t>
            </a:r>
            <a:r>
              <a:rPr lang="en-GB" sz="1600" dirty="0">
                <a:hlinkClick r:id="rId11"/>
              </a:rPr>
              <a:t>15</a:t>
            </a:r>
            <a:r>
              <a:rPr lang="en-GB" sz="1600" dirty="0"/>
              <a:t>] dynamically configure agents or select templates based on task complexity, but lack mechanisms to adapt subgoal plans based on runtime feedback. More recently, </a:t>
            </a:r>
            <a:r>
              <a:rPr lang="en-GB" sz="1600" b="1" dirty="0" err="1"/>
              <a:t>ScoreFlow</a:t>
            </a:r>
            <a:r>
              <a:rPr lang="en-GB" sz="1600" dirty="0"/>
              <a:t> [</a:t>
            </a:r>
            <a:r>
              <a:rPr lang="en-GB" sz="1600" dirty="0">
                <a:hlinkClick r:id="rId12"/>
              </a:rPr>
              <a:t>18</a:t>
            </a:r>
            <a:r>
              <a:rPr lang="en-GB" sz="1600" dirty="0"/>
              <a:t>] and </a:t>
            </a:r>
            <a:r>
              <a:rPr lang="en-GB" sz="1600" b="1" dirty="0" err="1"/>
              <a:t>MaAS</a:t>
            </a:r>
            <a:r>
              <a:rPr lang="en-GB" sz="1600" dirty="0"/>
              <a:t> introduce continuous or conditional search spaces over workflows and agent architectures, offering more expressive design flexibility. </a:t>
            </a:r>
          </a:p>
          <a:p>
            <a:pPr algn="l"/>
            <a:r>
              <a:rPr lang="en-GB" sz="1600" dirty="0"/>
              <a:t>	However, they still treat </a:t>
            </a:r>
            <a:r>
              <a:rPr lang="en-GB" sz="1600" b="1" dirty="0"/>
              <a:t>planning</a:t>
            </a:r>
            <a:r>
              <a:rPr lang="en-GB" sz="1600" dirty="0"/>
              <a:t> as a </a:t>
            </a:r>
            <a:r>
              <a:rPr lang="en-GB" sz="1600" b="1" dirty="0"/>
              <a:t>pre-execution optimization problem</a:t>
            </a:r>
            <a:r>
              <a:rPr lang="en-GB" sz="1600" dirty="0"/>
              <a:t>, separated from the </a:t>
            </a:r>
            <a:r>
              <a:rPr lang="en-GB" sz="1600" b="1" dirty="0"/>
              <a:t>execution</a:t>
            </a:r>
            <a:r>
              <a:rPr lang="en-GB" sz="1600" dirty="0"/>
              <a:t> process itself.</a:t>
            </a:r>
          </a:p>
        </p:txBody>
      </p:sp>
    </p:spTree>
    <p:extLst>
      <p:ext uri="{BB962C8B-B14F-4D97-AF65-F5344CB8AC3E}">
        <p14:creationId xmlns:p14="http://schemas.microsoft.com/office/powerpoint/2010/main" val="1967493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D44C6336-69B3-C239-DE87-20FD884656D6}"/>
            </a:ext>
          </a:extLst>
        </p:cNvPr>
        <p:cNvGrpSpPr/>
        <p:nvPr/>
      </p:nvGrpSpPr>
      <p:grpSpPr>
        <a:xfrm>
          <a:off x="0" y="0"/>
          <a:ext cx="0" cy="0"/>
          <a:chOff x="0" y="0"/>
          <a:chExt cx="0" cy="0"/>
        </a:xfrm>
      </p:grpSpPr>
      <p:sp>
        <p:nvSpPr>
          <p:cNvPr id="94" name="Google Shape;94;p2">
            <a:extLst>
              <a:ext uri="{FF2B5EF4-FFF2-40B4-BE49-F238E27FC236}">
                <a16:creationId xmlns:a16="http://schemas.microsoft.com/office/drawing/2014/main" id="{1D25FD68-3E6B-6312-7EC4-8BC991412853}"/>
              </a:ext>
            </a:extLst>
          </p:cNvPr>
          <p:cNvSpPr txBox="1">
            <a:spLocks noGrp="1"/>
          </p:cNvSpPr>
          <p:nvPr>
            <p:ph type="ctrTitle"/>
          </p:nvPr>
        </p:nvSpPr>
        <p:spPr>
          <a:xfrm>
            <a:off x="251274" y="383379"/>
            <a:ext cx="7772400" cy="735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IN" dirty="0"/>
              <a:t>Introduction</a:t>
            </a:r>
            <a:endParaRPr dirty="0"/>
          </a:p>
        </p:txBody>
      </p:sp>
      <p:sp>
        <p:nvSpPr>
          <p:cNvPr id="2" name="Google Shape;94;p2">
            <a:extLst>
              <a:ext uri="{FF2B5EF4-FFF2-40B4-BE49-F238E27FC236}">
                <a16:creationId xmlns:a16="http://schemas.microsoft.com/office/drawing/2014/main" id="{C8335682-8BB9-FE8C-2A90-12A855395DE5}"/>
              </a:ext>
            </a:extLst>
          </p:cNvPr>
          <p:cNvSpPr txBox="1">
            <a:spLocks/>
          </p:cNvSpPr>
          <p:nvPr/>
        </p:nvSpPr>
        <p:spPr>
          <a:xfrm>
            <a:off x="354512" y="1118379"/>
            <a:ext cx="8258545" cy="548889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GB" sz="1600" b="1" dirty="0"/>
              <a:t>2.2 Feedback-based Correction in LLM Systems</a:t>
            </a:r>
            <a:endParaRPr lang="en-GB" sz="1600" dirty="0"/>
          </a:p>
          <a:p>
            <a:pPr algn="l"/>
            <a:r>
              <a:rPr lang="en-GB" sz="1600" dirty="0"/>
              <a:t>	Intermediate feedback has been explored for improving LLM reasoning ability across various settings. In single-agent systems, </a:t>
            </a:r>
            <a:r>
              <a:rPr lang="en-GB" sz="1600" b="1" dirty="0"/>
              <a:t>Reflexion</a:t>
            </a:r>
            <a:r>
              <a:rPr lang="en-GB" sz="1600" dirty="0"/>
              <a:t> [</a:t>
            </a:r>
            <a:r>
              <a:rPr lang="en-GB" sz="1600" dirty="0">
                <a:hlinkClick r:id="rId3"/>
              </a:rPr>
              <a:t>19</a:t>
            </a:r>
            <a:r>
              <a:rPr lang="en-GB" sz="1600" dirty="0"/>
              <a:t>] performs retrospective self-evaluation across episodes, while </a:t>
            </a:r>
            <a:r>
              <a:rPr lang="en-GB" sz="1600" b="1" dirty="0"/>
              <a:t>Tree of Thoughts </a:t>
            </a:r>
            <a:r>
              <a:rPr lang="en-GB" sz="1600" dirty="0"/>
              <a:t>[</a:t>
            </a:r>
            <a:r>
              <a:rPr lang="en-GB" sz="1600" dirty="0">
                <a:hlinkClick r:id="rId4"/>
              </a:rPr>
              <a:t>20</a:t>
            </a:r>
            <a:r>
              <a:rPr lang="en-GB" sz="1600" dirty="0"/>
              <a:t>] enables trajectory-level revision via search. </a:t>
            </a:r>
            <a:r>
              <a:rPr lang="en-GB" sz="1600" b="1" dirty="0" err="1"/>
              <a:t>DSPy</a:t>
            </a:r>
            <a:r>
              <a:rPr lang="en-GB" sz="1600" dirty="0"/>
              <a:t> [</a:t>
            </a:r>
            <a:r>
              <a:rPr lang="en-GB" sz="1600" dirty="0">
                <a:hlinkClick r:id="rId5"/>
              </a:rPr>
              <a:t>21</a:t>
            </a:r>
            <a:r>
              <a:rPr lang="en-GB" sz="1600" dirty="0"/>
              <a:t>] introduces </a:t>
            </a:r>
            <a:r>
              <a:rPr lang="en-GB" sz="1600" dirty="0" err="1"/>
              <a:t>assertionbased</a:t>
            </a:r>
            <a:r>
              <a:rPr lang="en-GB" sz="1600" dirty="0"/>
              <a:t> checks to detect and fix failures at the module level. In multi-agent frameworks, </a:t>
            </a:r>
            <a:r>
              <a:rPr lang="en-GB" sz="1600" b="1" dirty="0" err="1"/>
              <a:t>AutoGen</a:t>
            </a:r>
            <a:r>
              <a:rPr lang="en-GB" sz="1600" dirty="0"/>
              <a:t> [</a:t>
            </a:r>
            <a:r>
              <a:rPr lang="en-GB" sz="1600" dirty="0">
                <a:hlinkClick r:id="rId6"/>
              </a:rPr>
              <a:t>5</a:t>
            </a:r>
            <a:r>
              <a:rPr lang="en-GB" sz="1600" dirty="0"/>
              <a:t>] supports retrying failed actions within fixed communication rounds.</a:t>
            </a:r>
          </a:p>
          <a:p>
            <a:pPr algn="l"/>
            <a:r>
              <a:rPr lang="en-GB" sz="1600" dirty="0"/>
              <a:t>However, these correction mechanisms have been underutilized in workflow planning. Effective correction at the workflow level requires more than recovering from execution failures, as it demands the ability to dynamically revise subgoal decomposition and operator selection in response to intermediate signals. This poses stricter requirements for granularity and adaptability than existing designs can satisfy. </a:t>
            </a:r>
          </a:p>
          <a:p>
            <a:pPr algn="l"/>
            <a:endParaRPr lang="en-GB" sz="1600" dirty="0"/>
          </a:p>
          <a:p>
            <a:pPr algn="l"/>
            <a:r>
              <a:rPr lang="en-GB" sz="1600" b="1" dirty="0" err="1"/>
              <a:t>DyFlow</a:t>
            </a:r>
            <a:r>
              <a:rPr lang="en-GB" sz="1600" b="1" dirty="0"/>
              <a:t>(</a:t>
            </a:r>
            <a:r>
              <a:rPr lang="en-GB" sz="1600" dirty="0"/>
              <a:t>Dynamic Workflow Framework for Agentic Reasoning</a:t>
            </a:r>
            <a:r>
              <a:rPr lang="en-GB" sz="1600" b="1" dirty="0"/>
              <a:t>)</a:t>
            </a:r>
            <a:r>
              <a:rPr lang="en-GB" sz="1600" dirty="0"/>
              <a:t> addresses this gap by </a:t>
            </a:r>
            <a:r>
              <a:rPr lang="en-GB" sz="1600" b="1" dirty="0"/>
              <a:t>directly integrating feedback</a:t>
            </a:r>
            <a:r>
              <a:rPr lang="en-GB" sz="1600" dirty="0"/>
              <a:t> into the </a:t>
            </a:r>
            <a:r>
              <a:rPr lang="en-GB" sz="1600" b="1" dirty="0"/>
              <a:t>planning</a:t>
            </a:r>
            <a:r>
              <a:rPr lang="en-GB" sz="1600" dirty="0"/>
              <a:t> loop. It adjusts subgoal plans and operator configurations in real time based on contextual signals, enabling fine-grained and resilient reasoning workflows that evolve with task progress.</a:t>
            </a:r>
          </a:p>
          <a:p>
            <a:pPr algn="l"/>
            <a:endParaRPr lang="en-GB" sz="1600" dirty="0"/>
          </a:p>
          <a:p>
            <a:pPr algn="l"/>
            <a:r>
              <a:rPr lang="en-GB" sz="1600" dirty="0"/>
              <a:t>Planner and </a:t>
            </a:r>
            <a:r>
              <a:rPr lang="en-IN" sz="1600" dirty="0"/>
              <a:t>Executor</a:t>
            </a:r>
            <a:r>
              <a:rPr lang="en-GB" sz="1600" dirty="0"/>
              <a:t> - </a:t>
            </a:r>
          </a:p>
        </p:txBody>
      </p:sp>
    </p:spTree>
    <p:extLst>
      <p:ext uri="{BB962C8B-B14F-4D97-AF65-F5344CB8AC3E}">
        <p14:creationId xmlns:p14="http://schemas.microsoft.com/office/powerpoint/2010/main" val="2309193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60ACE5C5-10B3-77BA-E131-2D511AAB7806}"/>
            </a:ext>
          </a:extLst>
        </p:cNvPr>
        <p:cNvGrpSpPr/>
        <p:nvPr/>
      </p:nvGrpSpPr>
      <p:grpSpPr>
        <a:xfrm>
          <a:off x="0" y="0"/>
          <a:ext cx="0" cy="0"/>
          <a:chOff x="0" y="0"/>
          <a:chExt cx="0" cy="0"/>
        </a:xfrm>
      </p:grpSpPr>
      <p:sp>
        <p:nvSpPr>
          <p:cNvPr id="94" name="Google Shape;94;p2">
            <a:extLst>
              <a:ext uri="{FF2B5EF4-FFF2-40B4-BE49-F238E27FC236}">
                <a16:creationId xmlns:a16="http://schemas.microsoft.com/office/drawing/2014/main" id="{5E7C7655-16AE-E46D-9A84-CC0C0D2F3875}"/>
              </a:ext>
            </a:extLst>
          </p:cNvPr>
          <p:cNvSpPr txBox="1">
            <a:spLocks noGrp="1"/>
          </p:cNvSpPr>
          <p:nvPr>
            <p:ph type="ctrTitle"/>
          </p:nvPr>
        </p:nvSpPr>
        <p:spPr>
          <a:xfrm>
            <a:off x="172616" y="484200"/>
            <a:ext cx="7772400" cy="735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IN" dirty="0"/>
              <a:t>Introduction</a:t>
            </a:r>
            <a:endParaRPr dirty="0"/>
          </a:p>
        </p:txBody>
      </p:sp>
      <p:pic>
        <p:nvPicPr>
          <p:cNvPr id="4" name="Picture 3">
            <a:extLst>
              <a:ext uri="{FF2B5EF4-FFF2-40B4-BE49-F238E27FC236}">
                <a16:creationId xmlns:a16="http://schemas.microsoft.com/office/drawing/2014/main" id="{2935AE95-49DB-0F0F-A768-B99A5D70A171}"/>
              </a:ext>
            </a:extLst>
          </p:cNvPr>
          <p:cNvPicPr>
            <a:picLocks noChangeAspect="1"/>
          </p:cNvPicPr>
          <p:nvPr/>
        </p:nvPicPr>
        <p:blipFill>
          <a:blip r:embed="rId3"/>
          <a:stretch>
            <a:fillRect/>
          </a:stretch>
        </p:blipFill>
        <p:spPr>
          <a:xfrm>
            <a:off x="0" y="1498480"/>
            <a:ext cx="9144000" cy="2591039"/>
          </a:xfrm>
          <a:prstGeom prst="rect">
            <a:avLst/>
          </a:prstGeom>
        </p:spPr>
      </p:pic>
    </p:spTree>
    <p:extLst>
      <p:ext uri="{BB962C8B-B14F-4D97-AF65-F5344CB8AC3E}">
        <p14:creationId xmlns:p14="http://schemas.microsoft.com/office/powerpoint/2010/main" val="312057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03BEE152-D269-357D-E861-E64DF7BA5ED1}"/>
            </a:ext>
          </a:extLst>
        </p:cNvPr>
        <p:cNvGrpSpPr/>
        <p:nvPr/>
      </p:nvGrpSpPr>
      <p:grpSpPr>
        <a:xfrm>
          <a:off x="0" y="0"/>
          <a:ext cx="0" cy="0"/>
          <a:chOff x="0" y="0"/>
          <a:chExt cx="0" cy="0"/>
        </a:xfrm>
      </p:grpSpPr>
      <p:sp>
        <p:nvSpPr>
          <p:cNvPr id="94" name="Google Shape;94;p2">
            <a:extLst>
              <a:ext uri="{FF2B5EF4-FFF2-40B4-BE49-F238E27FC236}">
                <a16:creationId xmlns:a16="http://schemas.microsoft.com/office/drawing/2014/main" id="{E3E2D957-BEFE-4904-9C4E-8A995EAF3429}"/>
              </a:ext>
            </a:extLst>
          </p:cNvPr>
          <p:cNvSpPr txBox="1">
            <a:spLocks noGrp="1"/>
          </p:cNvSpPr>
          <p:nvPr>
            <p:ph type="ctrTitle"/>
          </p:nvPr>
        </p:nvSpPr>
        <p:spPr>
          <a:xfrm>
            <a:off x="200608" y="226980"/>
            <a:ext cx="7772400" cy="864401"/>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t>Problem Statement</a:t>
            </a:r>
            <a:endParaRPr dirty="0"/>
          </a:p>
        </p:txBody>
      </p:sp>
      <p:sp>
        <p:nvSpPr>
          <p:cNvPr id="2" name="Google Shape;94;p2">
            <a:extLst>
              <a:ext uri="{FF2B5EF4-FFF2-40B4-BE49-F238E27FC236}">
                <a16:creationId xmlns:a16="http://schemas.microsoft.com/office/drawing/2014/main" id="{01C68180-6D9C-5236-E16B-F82B48173EEC}"/>
              </a:ext>
            </a:extLst>
          </p:cNvPr>
          <p:cNvSpPr txBox="1">
            <a:spLocks/>
          </p:cNvSpPr>
          <p:nvPr/>
        </p:nvSpPr>
        <p:spPr>
          <a:xfrm>
            <a:off x="285686" y="1091381"/>
            <a:ext cx="8258545" cy="553963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GB" sz="2000" b="1" dirty="0"/>
              <a:t>The Challenge of Robust Dynamic Reasoning in Large Language Models</a:t>
            </a:r>
            <a:endParaRPr lang="en-GB" sz="2000" dirty="0"/>
          </a:p>
          <a:p>
            <a:pPr algn="l"/>
            <a:r>
              <a:rPr lang="en-GB" sz="1600" dirty="0"/>
              <a:t>LLM has remarkable capabilities in various reasoning tasks, yet they continue to struggle with complex, multi-step problems that require adaptive planning and error recovery. </a:t>
            </a:r>
          </a:p>
          <a:p>
            <a:pPr algn="l"/>
            <a:r>
              <a:rPr lang="en-GB" sz="1600" dirty="0"/>
              <a:t>	The </a:t>
            </a:r>
            <a:r>
              <a:rPr lang="en-GB" sz="1600" dirty="0" err="1"/>
              <a:t>DyFlow</a:t>
            </a:r>
            <a:r>
              <a:rPr lang="en-GB" sz="1600" dirty="0"/>
              <a:t> framework addresses this challenge through a dynamic workflow construction approach, employing a designer-executor architecture that enables real-time adaptation based on intermediate feedback. However, despite its innovative approach to adaptive reasoning, </a:t>
            </a:r>
            <a:r>
              <a:rPr lang="en-GB" sz="1600" dirty="0" err="1"/>
              <a:t>DyFlow's</a:t>
            </a:r>
            <a:r>
              <a:rPr lang="en-GB" sz="1600" dirty="0"/>
              <a:t> current implementation faces critical limitations in error handling and operator flexibility that constrain its effectiveness in real-world applications.</a:t>
            </a:r>
          </a:p>
          <a:p>
            <a:pPr algn="l"/>
            <a:endParaRPr lang="en-GB" sz="1600" b="1" dirty="0"/>
          </a:p>
          <a:p>
            <a:pPr algn="l"/>
            <a:r>
              <a:rPr lang="en-GB" sz="2000" b="1" dirty="0"/>
              <a:t>Error Detection and Classification Limitations</a:t>
            </a:r>
            <a:endParaRPr lang="en-GB" sz="2000" dirty="0"/>
          </a:p>
          <a:p>
            <a:pPr algn="l"/>
            <a:r>
              <a:rPr lang="en-GB" sz="1600" dirty="0"/>
              <a:t>	The current system relies on rudimentary error signals consisting primarily of partial outputs, simple review verdicts, and basic error flags. This approach lacks the semantic depth necessary to understand the nature and severity of reasoning failures. Without a structured taxonomy of error types, the system cannot distinguish between </a:t>
            </a:r>
            <a:r>
              <a:rPr lang="en-GB" sz="1600" b="1" dirty="0"/>
              <a:t>logical inconsistencies, computational mistakes, semantic misunderstandings, or incomplete reasoning chains</a:t>
            </a:r>
            <a:r>
              <a:rPr lang="en-GB" sz="1600" dirty="0"/>
              <a:t>. This limitation prevents the designer from making informed decisions about recovery strategies, often leading to inefficient replanning cycles or complete task failures when more targeted interventions could succeed.</a:t>
            </a:r>
          </a:p>
          <a:p>
            <a:pPr algn="l"/>
            <a:endParaRPr lang="en-GB" sz="1600" dirty="0"/>
          </a:p>
        </p:txBody>
      </p:sp>
    </p:spTree>
    <p:extLst>
      <p:ext uri="{BB962C8B-B14F-4D97-AF65-F5344CB8AC3E}">
        <p14:creationId xmlns:p14="http://schemas.microsoft.com/office/powerpoint/2010/main" val="1910735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470910B6-63DE-6909-E688-82FC99F2DFA9}"/>
            </a:ext>
          </a:extLst>
        </p:cNvPr>
        <p:cNvGrpSpPr/>
        <p:nvPr/>
      </p:nvGrpSpPr>
      <p:grpSpPr>
        <a:xfrm>
          <a:off x="0" y="0"/>
          <a:ext cx="0" cy="0"/>
          <a:chOff x="0" y="0"/>
          <a:chExt cx="0" cy="0"/>
        </a:xfrm>
      </p:grpSpPr>
      <p:sp>
        <p:nvSpPr>
          <p:cNvPr id="94" name="Google Shape;94;p2">
            <a:extLst>
              <a:ext uri="{FF2B5EF4-FFF2-40B4-BE49-F238E27FC236}">
                <a16:creationId xmlns:a16="http://schemas.microsoft.com/office/drawing/2014/main" id="{ABF7B984-2F4D-FA5C-B168-F3C6D9C6DDBB}"/>
              </a:ext>
            </a:extLst>
          </p:cNvPr>
          <p:cNvSpPr txBox="1">
            <a:spLocks noGrp="1"/>
          </p:cNvSpPr>
          <p:nvPr>
            <p:ph type="ctrTitle"/>
          </p:nvPr>
        </p:nvSpPr>
        <p:spPr>
          <a:xfrm>
            <a:off x="200608" y="260848"/>
            <a:ext cx="7772400" cy="99222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t>Problem Statement</a:t>
            </a:r>
            <a:endParaRPr dirty="0"/>
          </a:p>
        </p:txBody>
      </p:sp>
      <p:sp>
        <p:nvSpPr>
          <p:cNvPr id="2" name="Google Shape;94;p2">
            <a:extLst>
              <a:ext uri="{FF2B5EF4-FFF2-40B4-BE49-F238E27FC236}">
                <a16:creationId xmlns:a16="http://schemas.microsoft.com/office/drawing/2014/main" id="{6E8E5431-5CD4-5F85-045E-CBDD349FC4E6}"/>
              </a:ext>
            </a:extLst>
          </p:cNvPr>
          <p:cNvSpPr txBox="1">
            <a:spLocks/>
          </p:cNvSpPr>
          <p:nvPr/>
        </p:nvSpPr>
        <p:spPr>
          <a:xfrm>
            <a:off x="285686" y="1253068"/>
            <a:ext cx="8258545" cy="436879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GB" sz="2000" b="1" dirty="0"/>
              <a:t>Operator Framework Constraints</a:t>
            </a:r>
            <a:endParaRPr lang="en-GB" sz="2000" dirty="0"/>
          </a:p>
          <a:p>
            <a:pPr algn="l"/>
            <a:r>
              <a:rPr lang="en-GB" sz="1800" dirty="0"/>
              <a:t>	Beyond error handling, </a:t>
            </a:r>
            <a:r>
              <a:rPr lang="en-GB" sz="1800" dirty="0" err="1"/>
              <a:t>DyFlow</a:t>
            </a:r>
            <a:r>
              <a:rPr lang="en-GB" sz="1800" dirty="0"/>
              <a:t> operates with a fixed set of predefined operators including Decompose, Plan, Generate, Review, Refine, and Terminate. While these operators provide basic reasoning capabilities, they lack the flexibility and specialization needed for diverse domain-specific tasks. The current framework does not support domain-specific operators tailored to scientific reasoning, legal analysis, creative problem-solving, or other specialized domains. Additionally, operators cannot be composed in complex ways such as parallel execution, conditional branching, or hierarchical nesting, limiting the sophistication of reasoning workflows the system can construct.</a:t>
            </a:r>
          </a:p>
          <a:p>
            <a:pPr algn="l"/>
            <a:endParaRPr lang="en-GB" sz="1800" dirty="0"/>
          </a:p>
        </p:txBody>
      </p:sp>
    </p:spTree>
    <p:extLst>
      <p:ext uri="{BB962C8B-B14F-4D97-AF65-F5344CB8AC3E}">
        <p14:creationId xmlns:p14="http://schemas.microsoft.com/office/powerpoint/2010/main" val="3998252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a:spLocks noGrp="1"/>
          </p:cNvSpPr>
          <p:nvPr>
            <p:ph type="title"/>
          </p:nvPr>
        </p:nvSpPr>
        <p:spPr>
          <a:xfrm>
            <a:off x="214282" y="28572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t>Existing Problems/Gaps</a:t>
            </a:r>
            <a:endParaRPr dirty="0"/>
          </a:p>
        </p:txBody>
      </p:sp>
      <p:sp>
        <p:nvSpPr>
          <p:cNvPr id="102" name="Google Shape;102;p3"/>
          <p:cNvSpPr txBox="1">
            <a:spLocks noGrp="1"/>
          </p:cNvSpPr>
          <p:nvPr>
            <p:ph type="body" idx="1"/>
          </p:nvPr>
        </p:nvSpPr>
        <p:spPr>
          <a:xfrm>
            <a:off x="457200" y="1428728"/>
            <a:ext cx="8229600" cy="4844253"/>
          </a:xfrm>
          <a:prstGeom prst="rect">
            <a:avLst/>
          </a:prstGeom>
          <a:noFill/>
          <a:ln>
            <a:noFill/>
          </a:ln>
        </p:spPr>
        <p:txBody>
          <a:bodyPr spcFirstLastPara="1" wrap="square" lIns="91425" tIns="45700" rIns="91425" bIns="45700" anchor="t" anchorCtr="0">
            <a:normAutofit/>
          </a:bodyPr>
          <a:lstStyle/>
          <a:p>
            <a:pPr marL="114300" indent="0">
              <a:buNone/>
            </a:pPr>
            <a:r>
              <a:rPr lang="en-IN" sz="2400" b="1" dirty="0"/>
              <a:t>Limitations</a:t>
            </a:r>
          </a:p>
          <a:p>
            <a:pPr marL="114300" indent="0">
              <a:buNone/>
            </a:pPr>
            <a:r>
              <a:rPr lang="en-GB" sz="1800" dirty="0"/>
              <a:t>Although </a:t>
            </a:r>
            <a:r>
              <a:rPr lang="en-GB" sz="1800" dirty="0" err="1"/>
              <a:t>DyFlow</a:t>
            </a:r>
            <a:r>
              <a:rPr lang="en-GB" sz="1800" dirty="0"/>
              <a:t> demonstrates strong generalization and reasoning stability across a variety of tasks, its current design has a notable limitation: </a:t>
            </a:r>
          </a:p>
          <a:p>
            <a:r>
              <a:rPr lang="en-GB" sz="1800" dirty="0"/>
              <a:t>the </a:t>
            </a:r>
            <a:r>
              <a:rPr lang="en-GB" sz="1800" b="1" dirty="0"/>
              <a:t>lack of integration </a:t>
            </a:r>
            <a:r>
              <a:rPr lang="en-GB" sz="1800" dirty="0"/>
              <a:t>with external tools and APIs</a:t>
            </a:r>
          </a:p>
          <a:p>
            <a:r>
              <a:rPr lang="en-GB" sz="1800" dirty="0" err="1"/>
              <a:t>DyFlow’s</a:t>
            </a:r>
            <a:r>
              <a:rPr lang="en-GB" sz="1800" dirty="0"/>
              <a:t> operator set is primarily built for symbolic reasoning (e.g., mathematical derivation, code execution) and textual reasoning (e.g., question answering), and does not yet support operations such as </a:t>
            </a:r>
            <a:r>
              <a:rPr lang="en-GB" sz="1800" b="1" dirty="0"/>
              <a:t>search engine/Live Data </a:t>
            </a:r>
            <a:r>
              <a:rPr lang="en-GB" sz="1800" dirty="0"/>
              <a:t>access, </a:t>
            </a:r>
            <a:r>
              <a:rPr lang="en-GB" sz="1800" b="1" dirty="0"/>
              <a:t>database queries</a:t>
            </a:r>
            <a:r>
              <a:rPr lang="en-GB" sz="1800" dirty="0"/>
              <a:t>, </a:t>
            </a:r>
            <a:r>
              <a:rPr lang="en-GB" sz="1800" b="1" dirty="0"/>
              <a:t>ERP/HCM</a:t>
            </a:r>
            <a:r>
              <a:rPr lang="en-GB" sz="1800" dirty="0"/>
              <a:t> </a:t>
            </a:r>
            <a:r>
              <a:rPr lang="en-GB" sz="1800" b="1" dirty="0"/>
              <a:t>queries</a:t>
            </a:r>
            <a:r>
              <a:rPr lang="en-GB" sz="1800" dirty="0"/>
              <a:t>, or environment interaction. </a:t>
            </a:r>
          </a:p>
          <a:p>
            <a:pPr marL="114300" indent="0">
              <a:buNone/>
            </a:pPr>
            <a:r>
              <a:rPr lang="en-GB" sz="1800" dirty="0"/>
              <a:t>This limitation can lead to performance bottlenecks in tasks that require complex tool-assisted reasoning.</a:t>
            </a:r>
          </a:p>
          <a:p>
            <a:pPr marL="114300" indent="0">
              <a:buNone/>
            </a:pPr>
            <a:r>
              <a:rPr lang="en-GB" sz="1800" b="1" dirty="0"/>
              <a:t>performance bottlenecks </a:t>
            </a:r>
            <a:r>
              <a:rPr lang="en-GB" sz="1800" dirty="0"/>
              <a:t>arise mainly from subgoal planning or logical reasoning errors rather than from missing external knowledge or tool usage</a:t>
            </a:r>
          </a:p>
          <a:p>
            <a:pPr marL="114300" indent="0">
              <a:buNone/>
            </a:pPr>
            <a:r>
              <a:rPr lang="en-GB" sz="1800" dirty="0"/>
              <a:t>	Nevertheless, as tasks continue to expand into more complex domains—such as </a:t>
            </a:r>
            <a:r>
              <a:rPr lang="en-GB" sz="1800" b="1" dirty="0"/>
              <a:t>web-based question answering</a:t>
            </a:r>
            <a:r>
              <a:rPr lang="en-GB" sz="1800" dirty="0"/>
              <a:t>, embodied interaction, and multimodal reasoning—the demand for external tool use is expected to increase.</a:t>
            </a:r>
            <a:endParaRPr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7922147" y="136289"/>
            <a:ext cx="1084200" cy="513110"/>
          </a:xfrm>
          <a:prstGeom prst="rect">
            <a:avLst/>
          </a:prstGeom>
        </p:spPr>
      </p:pic>
      <p:sp>
        <p:nvSpPr>
          <p:cNvPr id="6" name="Google Shape;108;p4">
            <a:extLst>
              <a:ext uri="{FF2B5EF4-FFF2-40B4-BE49-F238E27FC236}">
                <a16:creationId xmlns:a16="http://schemas.microsoft.com/office/drawing/2014/main" id="{08EB0272-F2E6-B81D-0BE2-2CE2DC19F1F2}"/>
              </a:ext>
            </a:extLst>
          </p:cNvPr>
          <p:cNvSpPr txBox="1">
            <a:spLocks/>
          </p:cNvSpPr>
          <p:nvPr/>
        </p:nvSpPr>
        <p:spPr>
          <a:xfrm>
            <a:off x="1413952" y="0"/>
            <a:ext cx="5837748" cy="649399"/>
          </a:xfrm>
          <a:prstGeom prst="rect">
            <a:avLst/>
          </a:prstGeom>
          <a:noFill/>
          <a:ln>
            <a:noFill/>
          </a:ln>
        </p:spPr>
        <p:txBody>
          <a:bodyPr spcFirstLastPara="1" wrap="square" lIns="91425" tIns="45700" rIns="91425" bIns="45700" anchor="ctr"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4400"/>
              <a:buFont typeface="Calibri"/>
              <a:buNone/>
            </a:pPr>
            <a:r>
              <a:rPr lang="en-IN" sz="4400" dirty="0">
                <a:latin typeface="Calibri" panose="020F0502020204030204" pitchFamily="34" charset="0"/>
                <a:ea typeface="Calibri" panose="020F0502020204030204" pitchFamily="34" charset="0"/>
                <a:cs typeface="Calibri" panose="020F0502020204030204" pitchFamily="34" charset="0"/>
              </a:rPr>
              <a:t>Literature Review</a:t>
            </a:r>
          </a:p>
        </p:txBody>
      </p:sp>
      <p:graphicFrame>
        <p:nvGraphicFramePr>
          <p:cNvPr id="7" name="Table 0">
            <a:extLst>
              <a:ext uri="{FF2B5EF4-FFF2-40B4-BE49-F238E27FC236}">
                <a16:creationId xmlns:a16="http://schemas.microsoft.com/office/drawing/2014/main" id="{E1E5D51B-3969-D3BD-A6E0-C518EED6FA0A}"/>
              </a:ext>
            </a:extLst>
          </p:cNvPr>
          <p:cNvGraphicFramePr>
            <a:graphicFrameLocks noGrp="1"/>
          </p:cNvGraphicFramePr>
          <p:nvPr>
            <p:extLst>
              <p:ext uri="{D42A27DB-BD31-4B8C-83A1-F6EECF244321}">
                <p14:modId xmlns:p14="http://schemas.microsoft.com/office/powerpoint/2010/main" val="1603921315"/>
              </p:ext>
            </p:extLst>
          </p:nvPr>
        </p:nvGraphicFramePr>
        <p:xfrm>
          <a:off x="137160" y="824818"/>
          <a:ext cx="8759190" cy="5690248"/>
        </p:xfrm>
        <a:graphic>
          <a:graphicData uri="http://schemas.openxmlformats.org/drawingml/2006/table">
            <a:tbl>
              <a:tblPr/>
              <a:tblGrid>
                <a:gridCol w="208280">
                  <a:extLst>
                    <a:ext uri="{9D8B030D-6E8A-4147-A177-3AD203B41FA5}">
                      <a16:colId xmlns:a16="http://schemas.microsoft.com/office/drawing/2014/main" val="20000"/>
                    </a:ext>
                  </a:extLst>
                </a:gridCol>
                <a:gridCol w="1381096">
                  <a:extLst>
                    <a:ext uri="{9D8B030D-6E8A-4147-A177-3AD203B41FA5}">
                      <a16:colId xmlns:a16="http://schemas.microsoft.com/office/drawing/2014/main" val="20001"/>
                    </a:ext>
                  </a:extLst>
                </a:gridCol>
                <a:gridCol w="986497">
                  <a:extLst>
                    <a:ext uri="{9D8B030D-6E8A-4147-A177-3AD203B41FA5}">
                      <a16:colId xmlns:a16="http://schemas.microsoft.com/office/drawing/2014/main" val="20002"/>
                    </a:ext>
                  </a:extLst>
                </a:gridCol>
                <a:gridCol w="1118030">
                  <a:extLst>
                    <a:ext uri="{9D8B030D-6E8A-4147-A177-3AD203B41FA5}">
                      <a16:colId xmlns:a16="http://schemas.microsoft.com/office/drawing/2014/main" val="20003"/>
                    </a:ext>
                  </a:extLst>
                </a:gridCol>
                <a:gridCol w="986497">
                  <a:extLst>
                    <a:ext uri="{9D8B030D-6E8A-4147-A177-3AD203B41FA5}">
                      <a16:colId xmlns:a16="http://schemas.microsoft.com/office/drawing/2014/main" val="20004"/>
                    </a:ext>
                  </a:extLst>
                </a:gridCol>
                <a:gridCol w="986497">
                  <a:extLst>
                    <a:ext uri="{9D8B030D-6E8A-4147-A177-3AD203B41FA5}">
                      <a16:colId xmlns:a16="http://schemas.microsoft.com/office/drawing/2014/main" val="20005"/>
                    </a:ext>
                  </a:extLst>
                </a:gridCol>
                <a:gridCol w="1118030">
                  <a:extLst>
                    <a:ext uri="{9D8B030D-6E8A-4147-A177-3AD203B41FA5}">
                      <a16:colId xmlns:a16="http://schemas.microsoft.com/office/drawing/2014/main" val="20006"/>
                    </a:ext>
                  </a:extLst>
                </a:gridCol>
                <a:gridCol w="1974263">
                  <a:extLst>
                    <a:ext uri="{9D8B030D-6E8A-4147-A177-3AD203B41FA5}">
                      <a16:colId xmlns:a16="http://schemas.microsoft.com/office/drawing/2014/main" val="20007"/>
                    </a:ext>
                  </a:extLst>
                </a:gridCol>
              </a:tblGrid>
              <a:tr h="330882">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Title</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Author / Year / Journal</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Techniques Used</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Merits</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Demerits</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Results Achieved</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Research Gap</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33508">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ReAct: Synergizing Reasoning and Acting in Language Models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Yao et al. / 2023 / ICLR</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Chain-of-thought + tool-action interleaving in LLMs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Combines reasoning traces with tool calls; reduces hallucination</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Requires careful prompt design; limited tool diversity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Outperforms CoT on HotpotQA, Fever, ALFWorld</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dynamic workflow design; fixed action schema</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3508">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2</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Toolformer: Language Models Can Teach Themselves to Use Tools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Schick et al. / 2023 / NeurIPS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Self-supervised fine-tuning to insert API calls into text</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Autonomous tool-use learning; no manual annotation needed</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Fine-tuning required; limited to pre-defined tools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Significant gains on QA, translation, and calculator tasks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Cannot adapt tool strategy per-question dynamically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533508">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HuggingGPT: Solving AI Tasks with ChatGPT and Its Friends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Shen et al. / 2023 / NeurIPS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LLM as controller orchestrating specialised AI models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Broad task coverage via model routing; modular design</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High latency; dependent on external model availability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Handles cross-modal tasks including vision and speech</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iterative refinement; single-pass task decomposition</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3508">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ART: Automatic multi-step Reasoning and Tool-use for LLMs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Paranjape et al. / 2023 / EMNLP</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Few-shot prompting with frozen LLM + tool library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Zero fine-tuning; extensible tool library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Performance depends on example selection quality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Improves over CoT on BigBench and MMLU subsets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Static reasoning chain; no feedback-driven replanning</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extLst>
                  <a:ext uri="{0D108BD9-81ED-4DB2-BD59-A6C34878D82A}">
                    <a16:rowId xmlns:a16="http://schemas.microsoft.com/office/drawing/2014/main" val="10004"/>
                  </a:ext>
                </a:extLst>
              </a:tr>
              <a:tr h="533508">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5</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ToolBench: Facilitating Large Language Models in Tool Learning</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Qin et al. / 2023 / ICLR</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Instruction tuning on diverse API-use demonstrations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Large-scale benchmark; broad API coverage (16k+ tools)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Requires annotated tool-use data for fine-tuning</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Trained models generalise to unseen tools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dynamic designer stage; workflow fixed at training time</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3508">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6</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Spider: A Large-Scale Human-Labeled Dataset for Text-to-SQL</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Yu et al. / 2018 / EMNLP</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Cross-domain text-to-SQL benchmark with execution accuracy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Standardised evaluation; widely adopted leaderboard</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Small databases (5–50 rows); LLM can guess results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EX accuracy 91% (SOTA); foundation for SQL benchmarking</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Does not test real-world execution grounding for LLM agents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extLst>
                  <a:ext uri="{0D108BD9-81ED-4DB2-BD59-A6C34878D82A}">
                    <a16:rowId xmlns:a16="http://schemas.microsoft.com/office/drawing/2014/main" val="10006"/>
                  </a:ext>
                </a:extLst>
              </a:tr>
              <a:tr h="533508">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7</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BIRD: A Big Bench for Large-Scale Database Grounded Text-to-SQL</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Li et al. / 2024 / NeurIPS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Text-to-SQL with dirty data, 33k+ row databases, evidence hints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Realistic databases; harder queries; domain evidence field</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Setup complexity; slow evaluation on large DBs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GPT-4 achieves 54.89% EX; human accuracy 92.96%</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Agent integration and dynamic workflow not evaluated</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33508">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8</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GAIA: A Benchmark for General AI Assistants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Mialon et al. / 2023 / ICLR</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Multi-step QA requiring web search, tools, and reasoning</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Real-world difficulty; tool-use necessity; 3-level hierarchy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Limited dataset size; manual annotation expensive</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GPT-4 with plugins: 15%; humans: 92%</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agent framework evaluated; tool orchestration not studied</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extLst>
                  <a:ext uri="{0D108BD9-81ED-4DB2-BD59-A6C34878D82A}">
                    <a16:rowId xmlns:a16="http://schemas.microsoft.com/office/drawing/2014/main" val="10008"/>
                  </a:ext>
                </a:extLst>
              </a:tr>
              <a:tr h="533508">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9</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DyFlow: Dynamic Workflow Synthesis for Complex Reasoning</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Proposed / 2024 / —</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LLM designer + executor operators; dynamic stage synthesis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Flexible workflow; no task-specific training needed</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real tool integration; LLM must guess execution results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Competitive on reasoning benchmarks; dynamic design validated</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Tool execution grounding absent — motivates DyFlow-T extension</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533508">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WebGPT: Browser-Assisted QA with Human Feedback</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Nakano et al. / 2022 / arXiv</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Fine-tuned GPT-3 with web browsing actions + RLHF</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Retrieval-augmented answers; citation grounding</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Requires fine-tuning; browser actions brittle</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Preferred over human answers 56% of time on ELI5</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dynamic workflow; single-purpose (web QA only)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2D496-8B66-08DC-8AFD-0BA90DEDA666}"/>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A79F91C1-F0E5-AEAC-CFF2-9CDDB21BED0C}"/>
              </a:ext>
            </a:extLst>
          </p:cNvPr>
          <p:cNvPicPr/>
          <p:nvPr/>
        </p:nvPicPr>
        <p:blipFill>
          <a:blip r:embed="rId2" cstate="print"/>
          <a:stretch>
            <a:fillRect/>
          </a:stretch>
        </p:blipFill>
        <p:spPr>
          <a:xfrm>
            <a:off x="7922147" y="136289"/>
            <a:ext cx="1084200" cy="513110"/>
          </a:xfrm>
          <a:prstGeom prst="rect">
            <a:avLst/>
          </a:prstGeom>
        </p:spPr>
      </p:pic>
      <p:sp>
        <p:nvSpPr>
          <p:cNvPr id="6" name="Google Shape;108;p4">
            <a:extLst>
              <a:ext uri="{FF2B5EF4-FFF2-40B4-BE49-F238E27FC236}">
                <a16:creationId xmlns:a16="http://schemas.microsoft.com/office/drawing/2014/main" id="{5B287FA4-5EFB-B636-52F2-279C5BAB81B5}"/>
              </a:ext>
            </a:extLst>
          </p:cNvPr>
          <p:cNvSpPr txBox="1">
            <a:spLocks/>
          </p:cNvSpPr>
          <p:nvPr/>
        </p:nvSpPr>
        <p:spPr>
          <a:xfrm>
            <a:off x="1413952" y="87088"/>
            <a:ext cx="5837748" cy="649399"/>
          </a:xfrm>
          <a:prstGeom prst="rect">
            <a:avLst/>
          </a:prstGeom>
          <a:noFill/>
          <a:ln>
            <a:noFill/>
          </a:ln>
        </p:spPr>
        <p:txBody>
          <a:bodyPr spcFirstLastPara="1" wrap="square" lIns="91425" tIns="45700" rIns="91425" bIns="45700" anchor="ctr"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4400"/>
              <a:buFont typeface="Calibri"/>
              <a:buNone/>
            </a:pPr>
            <a:r>
              <a:rPr lang="en-IN" sz="4400" dirty="0">
                <a:latin typeface="Calibri" panose="020F0502020204030204" pitchFamily="34" charset="0"/>
                <a:ea typeface="Calibri" panose="020F0502020204030204" pitchFamily="34" charset="0"/>
                <a:cs typeface="Calibri" panose="020F0502020204030204" pitchFamily="34" charset="0"/>
              </a:rPr>
              <a:t>Literature Review</a:t>
            </a:r>
          </a:p>
        </p:txBody>
      </p:sp>
      <p:graphicFrame>
        <p:nvGraphicFramePr>
          <p:cNvPr id="2" name="Table 0">
            <a:extLst>
              <a:ext uri="{FF2B5EF4-FFF2-40B4-BE49-F238E27FC236}">
                <a16:creationId xmlns:a16="http://schemas.microsoft.com/office/drawing/2014/main" id="{5FB41ADF-1936-AB78-21D2-6982A5C00626}"/>
              </a:ext>
            </a:extLst>
          </p:cNvPr>
          <p:cNvGraphicFramePr>
            <a:graphicFrameLocks noGrp="1"/>
          </p:cNvGraphicFramePr>
          <p:nvPr>
            <p:extLst>
              <p:ext uri="{D42A27DB-BD31-4B8C-83A1-F6EECF244321}">
                <p14:modId xmlns:p14="http://schemas.microsoft.com/office/powerpoint/2010/main" val="183220080"/>
              </p:ext>
            </p:extLst>
          </p:nvPr>
        </p:nvGraphicFramePr>
        <p:xfrm>
          <a:off x="137160" y="838200"/>
          <a:ext cx="8872795" cy="5568673"/>
        </p:xfrm>
        <a:graphic>
          <a:graphicData uri="http://schemas.openxmlformats.org/drawingml/2006/table">
            <a:tbl>
              <a:tblPr/>
              <a:tblGrid>
                <a:gridCol w="208280">
                  <a:extLst>
                    <a:ext uri="{9D8B030D-6E8A-4147-A177-3AD203B41FA5}">
                      <a16:colId xmlns:a16="http://schemas.microsoft.com/office/drawing/2014/main" val="20000"/>
                    </a:ext>
                  </a:extLst>
                </a:gridCol>
                <a:gridCol w="1432715">
                  <a:extLst>
                    <a:ext uri="{9D8B030D-6E8A-4147-A177-3AD203B41FA5}">
                      <a16:colId xmlns:a16="http://schemas.microsoft.com/office/drawing/2014/main" val="20001"/>
                    </a:ext>
                  </a:extLst>
                </a:gridCol>
                <a:gridCol w="1023368">
                  <a:extLst>
                    <a:ext uri="{9D8B030D-6E8A-4147-A177-3AD203B41FA5}">
                      <a16:colId xmlns:a16="http://schemas.microsoft.com/office/drawing/2014/main" val="20002"/>
                    </a:ext>
                  </a:extLst>
                </a:gridCol>
                <a:gridCol w="1159817">
                  <a:extLst>
                    <a:ext uri="{9D8B030D-6E8A-4147-A177-3AD203B41FA5}">
                      <a16:colId xmlns:a16="http://schemas.microsoft.com/office/drawing/2014/main" val="20003"/>
                    </a:ext>
                  </a:extLst>
                </a:gridCol>
                <a:gridCol w="1023368">
                  <a:extLst>
                    <a:ext uri="{9D8B030D-6E8A-4147-A177-3AD203B41FA5}">
                      <a16:colId xmlns:a16="http://schemas.microsoft.com/office/drawing/2014/main" val="20004"/>
                    </a:ext>
                  </a:extLst>
                </a:gridCol>
                <a:gridCol w="1023368">
                  <a:extLst>
                    <a:ext uri="{9D8B030D-6E8A-4147-A177-3AD203B41FA5}">
                      <a16:colId xmlns:a16="http://schemas.microsoft.com/office/drawing/2014/main" val="20005"/>
                    </a:ext>
                  </a:extLst>
                </a:gridCol>
                <a:gridCol w="1159817">
                  <a:extLst>
                    <a:ext uri="{9D8B030D-6E8A-4147-A177-3AD203B41FA5}">
                      <a16:colId xmlns:a16="http://schemas.microsoft.com/office/drawing/2014/main" val="20006"/>
                    </a:ext>
                  </a:extLst>
                </a:gridCol>
                <a:gridCol w="1842062">
                  <a:extLst>
                    <a:ext uri="{9D8B030D-6E8A-4147-A177-3AD203B41FA5}">
                      <a16:colId xmlns:a16="http://schemas.microsoft.com/office/drawing/2014/main" val="20007"/>
                    </a:ext>
                  </a:extLst>
                </a:gridCol>
              </a:tblGrid>
              <a:tr h="381000">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Title</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Author / Year / Journal</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Techniques Used</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Merits</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Demerits</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Results Achieved</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Research Gap</a:t>
                      </a:r>
                      <a:endParaRPr lang="en-US" sz="8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16577">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11</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Chain-of-Thought Prompting Elicits Reasoning in LLMs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Wei et al. / 2022 / NeurIPS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Step-by-step reasoning via few-shot exemplar prompts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Simple; no fine-tuning; large gains on arithmetic/logic</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Sensitive to prompt quality; no external grounding</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540B PaLM: 57% on GSM8K (vs 17% standard prompting)</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tool use; reasoning not grounded in real data</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6577">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12</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Self-Consistency Improves Chain of Thought Reasoning in LLMs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Wang et al. / 2022 / ICLR</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Sample multiple CoT paths; majority-vote final answer</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Significant accuracy gain; compatible with any CoT method</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High token cost; 40× inference for top gains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+17.9% on GSM8K; +11% on SVAMP over greedy CoT</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tool integration; independent of external execution</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516577">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13</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Program-Aided Language Models (PAL)</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Gao et al. / 2023 / ICML</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LLM writes Python; Python interpreter executes for answer</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Offloads arithmetic/logic to precise interpreter</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Only handles problems expressible as Python programs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GPT-3 + PAL: 72% on GSM8K vs 56% CoT</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SQL/web tool; no dynamic multi-step workflow design</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6577">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14</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Gorilla: Large Language Model Connected with Massive APIs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Patil et al. / 2023 / arXiv</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Retrieval-aware fine-tuning for API call generation</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Reduces hallucinated API calls; retrieval-grounded</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Fine-tuning required; limited to known API catalogue</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Outperforms GPT-4 on API accuracy by 20%+</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workflow orchestration; single API call per query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extLst>
                  <a:ext uri="{0D108BD9-81ED-4DB2-BD59-A6C34878D82A}">
                    <a16:rowId xmlns:a16="http://schemas.microsoft.com/office/drawing/2014/main" val="10004"/>
                  </a:ext>
                </a:extLst>
              </a:tr>
              <a:tr h="516577">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15</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Auto-GPT: An Autonomous GPT-4 Experiment</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Gravitas / 2023 / GitHub</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Autonomous agent loop: memory + web + code + file tools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Open-ended autonomy; persistent memory; multi-tool</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Prone to loops; unreliable; no structured evaluation</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Demonstrated on open-ended tasks; no benchmark numbers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formal workflow design; no structured evaluation protocol</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6577">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16</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LangChain: Building Applications with LLMs through Composability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Chase / 2022 / GitHub</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Composable chains, agents, and tool wrappers for LLMs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Rich ecosystem; flexible tool integration; widely adopted</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Boilerplate-heavy; no automated workflow synthesis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Widely deployed; no standardised benchmark comparison</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Manual chain design; no dynamic stage synthesis capability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extLst>
                  <a:ext uri="{0D108BD9-81ED-4DB2-BD59-A6C34878D82A}">
                    <a16:rowId xmlns:a16="http://schemas.microsoft.com/office/drawing/2014/main" val="10006"/>
                  </a:ext>
                </a:extLst>
              </a:tr>
              <a:tr h="516577">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17</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AgentBench: Evaluating LLMs as Agents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Liu et al. / 2023 / ICLR</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Multi-environment benchmark: OS, DB, web, games, puzzles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Diverse environments; standardised agent evaluation</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Environment-specific reward functions; hard to generalise</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GPT-4 leads; open-source models lag significantly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workflow design evaluation; task-specific agents only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16577">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18</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Chameleon: Plug-and-Play Compositional Reasoning with GPT-4</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Lu et al. / 2023 / NeurIPS</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LLM planner selects and sequences modules per query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Modular composition; no task-specific training</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Fixed module library; no iterative replanning on failure</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ScienceQA: 86.54% (GPT-4+Chameleon vs 75.17% GPT-4 alone)</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feedback loop; cannot replan when module output is poor</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extLst>
                  <a:ext uri="{0D108BD9-81ED-4DB2-BD59-A6C34878D82A}">
                    <a16:rowId xmlns:a16="http://schemas.microsoft.com/office/drawing/2014/main" val="10008"/>
                  </a:ext>
                </a:extLst>
              </a:tr>
              <a:tr h="516577">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19</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SQL-PaLM: Improved Large Language Model Adaptation for SQL</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Sun et al. / 2023 / arXiv</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Few-shot prompting + fine-tuning PaLM-2 for text-to-SQL</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Strong SQL accuracy; schema linking; error correction</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Fine-tuning required; no agent or tool loop integration</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Spider: 82.8% EX; BIRD: 77.3% EX (fine-tuned)</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dynamic workflow; no agent-level tool execution grounding</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516577">
                <a:tc>
                  <a:txBody>
                    <a:bodyPr/>
                    <a:lstStyle/>
                    <a:p>
                      <a:pPr marL="0" indent="0" algn="ctr">
                        <a:buNone/>
                      </a:pPr>
                      <a:r>
                        <a:rPr lang="en-US" sz="800" dirty="0">
                          <a:solidFill>
                            <a:srgbClr val="1A1A2E"/>
                          </a:solidFill>
                          <a:latin typeface="Calibri" pitchFamily="34" charset="0"/>
                          <a:ea typeface="Calibri" pitchFamily="34" charset="-122"/>
                          <a:cs typeface="Calibri" pitchFamily="34" charset="-120"/>
                        </a:rPr>
                        <a:t>20</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DAIL-SQL: Efficient Prompt Engineering for LLM Text-to-SQL</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Gao et al. / 2023 / VLDB</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Question similarity-based example selection + masked schema</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Strong zero-shot and few-shot SQL generation; efficient</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execution feedback; single-pass generation only</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Spider: 86.6% EX with GPT-4 (SOTA at time of publication)</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tc>
                  <a:txBody>
                    <a:bodyPr/>
                    <a:lstStyle/>
                    <a:p>
                      <a:pPr marL="0" indent="0" algn="l">
                        <a:buNone/>
                      </a:pPr>
                      <a:r>
                        <a:rPr lang="en-US" sz="800" dirty="0">
                          <a:solidFill>
                            <a:srgbClr val="1A1A2E"/>
                          </a:solidFill>
                          <a:latin typeface="Calibri" pitchFamily="34" charset="0"/>
                          <a:ea typeface="Calibri" pitchFamily="34" charset="-122"/>
                          <a:cs typeface="Calibri" pitchFamily="34" charset="-120"/>
                        </a:rPr>
                        <a:t>No execution-grounded correction; agent integration absent</a:t>
                      </a:r>
                      <a:endParaRPr lang="en-US" sz="800" dirty="0">
                        <a:latin typeface="Calibri" charset="0"/>
                        <a:ea typeface="Calibri" charset="0"/>
                        <a:cs typeface="Calibri" charset="0"/>
                      </a:endParaRPr>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6FA"/>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029764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4433" y="173563"/>
            <a:ext cx="8435340" cy="582930"/>
          </a:xfrm>
          <a:prstGeom prst="rect">
            <a:avLst/>
          </a:prstGeom>
          <a:noFill/>
          <a:ln/>
        </p:spPr>
        <p:txBody>
          <a:bodyPr wrap="square" lIns="0" tIns="0" rIns="0" bIns="0" rtlCol="0" anchor="ctr"/>
          <a:lstStyle/>
          <a:p>
            <a:pPr algn="ctr"/>
            <a:r>
              <a:rPr lang="en-US" sz="4400" dirty="0">
                <a:solidFill>
                  <a:srgbClr val="1A1A1A"/>
                </a:solidFill>
                <a:latin typeface="Calibri" panose="020F0502020204030204" pitchFamily="34" charset="0"/>
                <a:ea typeface="Calibri" panose="020F0502020204030204" pitchFamily="34" charset="0"/>
                <a:cs typeface="Calibri" panose="020F0502020204030204" pitchFamily="34" charset="0"/>
              </a:rPr>
              <a:t>Objectives</a:t>
            </a:r>
            <a:endParaRPr lang="en-US" sz="44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1"/>
          <p:cNvSpPr/>
          <p:nvPr/>
        </p:nvSpPr>
        <p:spPr>
          <a:xfrm>
            <a:off x="334433" y="798703"/>
            <a:ext cx="8569960" cy="2488144"/>
          </a:xfrm>
          <a:prstGeom prst="rect">
            <a:avLst/>
          </a:prstGeom>
          <a:noFill/>
          <a:ln/>
        </p:spPr>
        <p:txBody>
          <a:bodyPr wrap="square" lIns="0" tIns="0" rIns="0" bIns="0" rtlCol="0" anchor="t"/>
          <a:lstStyle/>
          <a:p>
            <a:r>
              <a:rPr lang="en-US" sz="1800" dirty="0">
                <a:solidFill>
                  <a:srgbClr val="1A1A1A"/>
                </a:solidFill>
                <a:latin typeface="Calibri" pitchFamily="34" charset="0"/>
                <a:ea typeface="Calibri" pitchFamily="34" charset="-122"/>
                <a:cs typeface="Calibri" pitchFamily="34" charset="-120"/>
              </a:rPr>
              <a:t>        The existing DyFlow framework synthesises dynamic LLM reasoning workflows but relies entirely on parametric </a:t>
            </a:r>
            <a:r>
              <a:rPr lang="en-US" sz="1800" b="1" dirty="0">
                <a:solidFill>
                  <a:srgbClr val="1A1A1A"/>
                </a:solidFill>
                <a:latin typeface="Calibri" pitchFamily="34" charset="0"/>
                <a:ea typeface="Calibri" pitchFamily="34" charset="-122"/>
                <a:cs typeface="Calibri" pitchFamily="34" charset="-120"/>
              </a:rPr>
              <a:t>LLM memory </a:t>
            </a:r>
            <a:r>
              <a:rPr lang="en-US" sz="1800" dirty="0">
                <a:solidFill>
                  <a:srgbClr val="1A1A1A"/>
                </a:solidFill>
                <a:latin typeface="Calibri" pitchFamily="34" charset="0"/>
                <a:ea typeface="Calibri" pitchFamily="34" charset="-122"/>
                <a:cs typeface="Calibri" pitchFamily="34" charset="-120"/>
              </a:rPr>
              <a:t>to answer questions involving structured data and current factual knowledge. </a:t>
            </a:r>
          </a:p>
          <a:p>
            <a:r>
              <a:rPr lang="en-US" sz="1800" dirty="0">
                <a:solidFill>
                  <a:srgbClr val="1A1A1A"/>
                </a:solidFill>
                <a:latin typeface="Calibri" pitchFamily="34" charset="0"/>
                <a:ea typeface="Calibri" pitchFamily="34" charset="-122"/>
                <a:cs typeface="Calibri" pitchFamily="34" charset="-120"/>
              </a:rPr>
              <a:t>	As tasks expand into web-based question answering, real-time data retrieval, and </a:t>
            </a:r>
            <a:r>
              <a:rPr lang="en-US" sz="1800" b="1" dirty="0">
                <a:solidFill>
                  <a:srgbClr val="1A1A1A"/>
                </a:solidFill>
                <a:latin typeface="Calibri" pitchFamily="34" charset="0"/>
                <a:ea typeface="Calibri" pitchFamily="34" charset="-122"/>
                <a:cs typeface="Calibri" pitchFamily="34" charset="-120"/>
              </a:rPr>
              <a:t>large-scale database querying</a:t>
            </a:r>
            <a:r>
              <a:rPr lang="en-US" sz="1800" dirty="0">
                <a:solidFill>
                  <a:srgbClr val="1A1A1A"/>
                </a:solidFill>
                <a:latin typeface="Calibri" pitchFamily="34" charset="0"/>
                <a:ea typeface="Calibri" pitchFamily="34" charset="-122"/>
                <a:cs typeface="Calibri" pitchFamily="34" charset="-120"/>
              </a:rPr>
              <a:t>, the absence of real tool execution becomes a critical limitation — the LLM must guess SQL results and hallucinate live values such as exchange rates, counts, and aggregates. Addressing this gap requires integrating genuine tool execution into the workflow so that answers are grounded in real retrieved data rather than simulated by the model.</a:t>
            </a:r>
            <a:endParaRPr lang="en-US" sz="1800" dirty="0"/>
          </a:p>
        </p:txBody>
      </p:sp>
      <p:sp>
        <p:nvSpPr>
          <p:cNvPr id="4" name="Text 2"/>
          <p:cNvSpPr/>
          <p:nvPr/>
        </p:nvSpPr>
        <p:spPr>
          <a:xfrm>
            <a:off x="411480" y="3427561"/>
            <a:ext cx="8229600" cy="240030"/>
          </a:xfrm>
          <a:prstGeom prst="rect">
            <a:avLst/>
          </a:prstGeom>
          <a:noFill/>
          <a:ln/>
        </p:spPr>
        <p:txBody>
          <a:bodyPr wrap="square" lIns="0" tIns="0" rIns="0" bIns="0" rtlCol="0" anchor="t"/>
          <a:lstStyle/>
          <a:p>
            <a:r>
              <a:rPr lang="en-US" sz="2000" b="1" dirty="0">
                <a:solidFill>
                  <a:srgbClr val="1A1A1A"/>
                </a:solidFill>
                <a:latin typeface="Calibri" pitchFamily="34" charset="0"/>
                <a:ea typeface="Calibri" pitchFamily="34" charset="-122"/>
                <a:cs typeface="Calibri" pitchFamily="34" charset="-120"/>
              </a:rPr>
              <a:t>Research Objective</a:t>
            </a:r>
            <a:endParaRPr lang="en-US" sz="2000" dirty="0"/>
          </a:p>
        </p:txBody>
      </p:sp>
      <p:sp>
        <p:nvSpPr>
          <p:cNvPr id="5" name="Text 3"/>
          <p:cNvSpPr/>
          <p:nvPr/>
        </p:nvSpPr>
        <p:spPr>
          <a:xfrm>
            <a:off x="411480" y="3808305"/>
            <a:ext cx="8229600" cy="2778761"/>
          </a:xfrm>
          <a:prstGeom prst="rect">
            <a:avLst/>
          </a:prstGeom>
          <a:noFill/>
          <a:ln/>
        </p:spPr>
        <p:txBody>
          <a:bodyPr wrap="square" lIns="0" tIns="0" rIns="0" bIns="0" rtlCol="0" anchor="t"/>
          <a:lstStyle/>
          <a:p>
            <a:r>
              <a:rPr lang="en-US" sz="1800" dirty="0">
                <a:solidFill>
                  <a:srgbClr val="1A1A1A"/>
                </a:solidFill>
                <a:latin typeface="Calibri" pitchFamily="34" charset="0"/>
                <a:ea typeface="Calibri" pitchFamily="34" charset="-122"/>
                <a:cs typeface="Calibri" pitchFamily="34" charset="-120"/>
              </a:rPr>
              <a:t>        This research aims to address these critical limitations by developing DyFlow-T — a tool-augmented extension of DyFlow — featuring a ToolRegistry for managing external tools, a dedicated SQL_QUERY operator that executes generated SQL against real SQLite databases, a WebSearchTool that fetches live content via SerpAPI, and a structured TOOL_REVIEW quality gate that audits every tool result before it enters downstream reasoning. The system is evaluated against the original DyFlow baseline on GAIA, Spider, and BIRD benchmarks — with tool availability as the sole variable — thereby empirically demonstrating that execution grounding, not SQL generation ability, is the decisive factor in improving answer accuracy across structured data and open-domain question answering tasks.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C8FBF41E-5899-9303-1005-9DD2BD6F9B8B}"/>
            </a:ext>
          </a:extLst>
        </p:cNvPr>
        <p:cNvGrpSpPr/>
        <p:nvPr/>
      </p:nvGrpSpPr>
      <p:grpSpPr>
        <a:xfrm>
          <a:off x="0" y="0"/>
          <a:ext cx="0" cy="0"/>
          <a:chOff x="0" y="0"/>
          <a:chExt cx="0" cy="0"/>
        </a:xfrm>
      </p:grpSpPr>
      <p:sp>
        <p:nvSpPr>
          <p:cNvPr id="129" name="Google Shape;129;p7">
            <a:extLst>
              <a:ext uri="{FF2B5EF4-FFF2-40B4-BE49-F238E27FC236}">
                <a16:creationId xmlns:a16="http://schemas.microsoft.com/office/drawing/2014/main" id="{CE3EB241-138F-3067-2BD0-C19F946FB33F}"/>
              </a:ext>
            </a:extLst>
          </p:cNvPr>
          <p:cNvSpPr txBox="1">
            <a:spLocks noGrp="1"/>
          </p:cNvSpPr>
          <p:nvPr>
            <p:ph type="title"/>
          </p:nvPr>
        </p:nvSpPr>
        <p:spPr>
          <a:xfrm>
            <a:off x="1050121" y="197357"/>
            <a:ext cx="7043758" cy="683177"/>
          </a:xfrm>
          <a:prstGeom prst="rect">
            <a:avLst/>
          </a:prstGeom>
          <a:noFill/>
          <a:ln>
            <a:noFill/>
          </a:ln>
        </p:spPr>
        <p:txBody>
          <a:bodyPr spcFirstLastPara="1" wrap="square" lIns="91425" tIns="45700" rIns="91425" bIns="45700" anchor="ctr" anchorCtr="0">
            <a:normAutofit fontScale="90000"/>
          </a:bodyPr>
          <a:lstStyle/>
          <a:p>
            <a:pPr lvl="0">
              <a:buSzPts val="4400"/>
            </a:pPr>
            <a:r>
              <a:rPr lang="en-IN" dirty="0"/>
              <a:t>Proposed Architecture</a:t>
            </a:r>
            <a:endParaRPr dirty="0"/>
          </a:p>
        </p:txBody>
      </p:sp>
      <p:sp>
        <p:nvSpPr>
          <p:cNvPr id="130" name="Google Shape;130;p7">
            <a:extLst>
              <a:ext uri="{FF2B5EF4-FFF2-40B4-BE49-F238E27FC236}">
                <a16:creationId xmlns:a16="http://schemas.microsoft.com/office/drawing/2014/main" id="{9E038A39-8DCB-A98C-F5D7-66E0F71F9697}"/>
              </a:ext>
            </a:extLst>
          </p:cNvPr>
          <p:cNvSpPr txBox="1">
            <a:spLocks noGrp="1"/>
          </p:cNvSpPr>
          <p:nvPr>
            <p:ph type="body" idx="1"/>
          </p:nvPr>
        </p:nvSpPr>
        <p:spPr>
          <a:xfrm>
            <a:off x="457200" y="880534"/>
            <a:ext cx="8303342" cy="2235200"/>
          </a:xfrm>
          <a:prstGeom prst="rect">
            <a:avLst/>
          </a:prstGeom>
          <a:noFill/>
          <a:ln>
            <a:noFill/>
          </a:ln>
        </p:spPr>
        <p:txBody>
          <a:bodyPr spcFirstLastPara="1" wrap="square" lIns="91425" tIns="45700" rIns="91425" bIns="45700" anchor="t" anchorCtr="0">
            <a:normAutofit fontScale="92500" lnSpcReduction="10000"/>
          </a:bodyPr>
          <a:lstStyle/>
          <a:p>
            <a:pPr marL="114300" indent="0">
              <a:buNone/>
            </a:pPr>
            <a:r>
              <a:rPr lang="en-US" sz="1600" dirty="0">
                <a:solidFill>
                  <a:srgbClr val="1A1A1A"/>
                </a:solidFill>
                <a:latin typeface="Calibri" pitchFamily="34" charset="0"/>
                <a:ea typeface="Calibri" pitchFamily="34" charset="-122"/>
                <a:cs typeface="Calibri" pitchFamily="34" charset="-120"/>
              </a:rPr>
              <a:t> 	The proposed system, </a:t>
            </a:r>
            <a:r>
              <a:rPr lang="en-US" sz="1600" dirty="0" err="1">
                <a:solidFill>
                  <a:srgbClr val="1A1A1A"/>
                </a:solidFill>
                <a:latin typeface="Calibri" pitchFamily="34" charset="0"/>
                <a:ea typeface="Calibri" pitchFamily="34" charset="-122"/>
                <a:cs typeface="Calibri" pitchFamily="34" charset="-120"/>
              </a:rPr>
              <a:t>DyFlow</a:t>
            </a:r>
            <a:r>
              <a:rPr lang="en-US" sz="1600" dirty="0">
                <a:solidFill>
                  <a:srgbClr val="1A1A1A"/>
                </a:solidFill>
                <a:latin typeface="Calibri" pitchFamily="34" charset="0"/>
                <a:ea typeface="Calibri" pitchFamily="34" charset="-122"/>
                <a:cs typeface="Calibri" pitchFamily="34" charset="-120"/>
              </a:rPr>
              <a:t>-T, extends the original </a:t>
            </a:r>
            <a:r>
              <a:rPr lang="en-US" sz="1600" dirty="0" err="1">
                <a:solidFill>
                  <a:srgbClr val="1A1A1A"/>
                </a:solidFill>
                <a:latin typeface="Calibri" pitchFamily="34" charset="0"/>
                <a:ea typeface="Calibri" pitchFamily="34" charset="-122"/>
                <a:cs typeface="Calibri" pitchFamily="34" charset="-120"/>
              </a:rPr>
              <a:t>DyFlow</a:t>
            </a:r>
            <a:r>
              <a:rPr lang="en-US" sz="1600" dirty="0">
                <a:solidFill>
                  <a:srgbClr val="1A1A1A"/>
                </a:solidFill>
                <a:latin typeface="Calibri" pitchFamily="34" charset="0"/>
                <a:ea typeface="Calibri" pitchFamily="34" charset="-122"/>
                <a:cs typeface="Calibri" pitchFamily="34" charset="-120"/>
              </a:rPr>
              <a:t> framework by introducing a tool-aware execution layer alongside the existing dynamic workflow designer and </a:t>
            </a:r>
            <a:r>
              <a:rPr lang="en-US" sz="1600" b="1" dirty="0">
                <a:solidFill>
                  <a:srgbClr val="1A1A1A"/>
                </a:solidFill>
                <a:latin typeface="Calibri" pitchFamily="34" charset="0"/>
                <a:ea typeface="Calibri" pitchFamily="34" charset="-122"/>
                <a:cs typeface="Calibri" pitchFamily="34" charset="-120"/>
              </a:rPr>
              <a:t>operator</a:t>
            </a:r>
            <a:r>
              <a:rPr lang="en-US" sz="1600" dirty="0">
                <a:solidFill>
                  <a:srgbClr val="1A1A1A"/>
                </a:solidFill>
                <a:latin typeface="Calibri" pitchFamily="34" charset="0"/>
                <a:ea typeface="Calibri" pitchFamily="34" charset="-122"/>
                <a:cs typeface="Calibri" pitchFamily="34" charset="-120"/>
              </a:rPr>
              <a:t> executor. </a:t>
            </a:r>
          </a:p>
          <a:p>
            <a:pPr marL="114300" indent="0">
              <a:buNone/>
            </a:pPr>
            <a:r>
              <a:rPr lang="en-US" sz="1700" dirty="0">
                <a:solidFill>
                  <a:srgbClr val="1A1A1A"/>
                </a:solidFill>
                <a:latin typeface="Calibri" pitchFamily="34" charset="0"/>
                <a:ea typeface="Calibri" pitchFamily="34" charset="-122"/>
                <a:cs typeface="Calibri" pitchFamily="34" charset="-120"/>
              </a:rPr>
              <a:t>The architecture comprises four principal components: </a:t>
            </a:r>
          </a:p>
          <a:p>
            <a:r>
              <a:rPr lang="en-US" sz="1600" b="1" dirty="0" err="1">
                <a:solidFill>
                  <a:srgbClr val="1A1A1A"/>
                </a:solidFill>
                <a:latin typeface="Calibri" pitchFamily="34" charset="0"/>
                <a:ea typeface="Calibri" pitchFamily="34" charset="-122"/>
                <a:cs typeface="Calibri" pitchFamily="34" charset="-120"/>
              </a:rPr>
              <a:t>ToolRegistry</a:t>
            </a:r>
            <a:r>
              <a:rPr lang="en-US" sz="1600" dirty="0">
                <a:solidFill>
                  <a:srgbClr val="1A1A1A"/>
                </a:solidFill>
                <a:latin typeface="Calibri" pitchFamily="34" charset="0"/>
                <a:ea typeface="Calibri" pitchFamily="34" charset="-122"/>
                <a:cs typeface="Calibri" pitchFamily="34" charset="-120"/>
              </a:rPr>
              <a:t> that maps operator types to concrete tool implementations, </a:t>
            </a:r>
          </a:p>
          <a:p>
            <a:r>
              <a:rPr lang="en-US" sz="1600" b="1" dirty="0" err="1">
                <a:solidFill>
                  <a:srgbClr val="1A1A1A"/>
                </a:solidFill>
                <a:latin typeface="Calibri" pitchFamily="34" charset="0"/>
                <a:ea typeface="Calibri" pitchFamily="34" charset="-122"/>
                <a:cs typeface="Calibri" pitchFamily="34" charset="-120"/>
              </a:rPr>
              <a:t>ToolAwareWorkflowExecutor</a:t>
            </a:r>
            <a:r>
              <a:rPr lang="en-US" sz="1600" dirty="0">
                <a:solidFill>
                  <a:srgbClr val="1A1A1A"/>
                </a:solidFill>
                <a:latin typeface="Calibri" pitchFamily="34" charset="0"/>
                <a:ea typeface="Calibri" pitchFamily="34" charset="-122"/>
                <a:cs typeface="Calibri" pitchFamily="34" charset="-120"/>
              </a:rPr>
              <a:t> that routes each operator to either an LLM executor or a live tool, </a:t>
            </a:r>
          </a:p>
          <a:p>
            <a:r>
              <a:rPr lang="en-US" sz="1600" dirty="0">
                <a:solidFill>
                  <a:srgbClr val="1A1A1A"/>
                </a:solidFill>
                <a:latin typeface="Calibri" pitchFamily="34" charset="0"/>
                <a:ea typeface="Calibri" pitchFamily="34" charset="-122"/>
                <a:cs typeface="Calibri" pitchFamily="34" charset="-120"/>
              </a:rPr>
              <a:t>A set of six tool-aware operator types (SQL_GENERATE, SQL_QUERY, WEB_SEARCH, SEARCH_QUERY_FORMULATE, TOOL_REVIEW, TOOL_REFINE, RESULT_EXTRACT), </a:t>
            </a:r>
          </a:p>
          <a:p>
            <a:r>
              <a:rPr lang="en-US" sz="1600" dirty="0">
                <a:solidFill>
                  <a:srgbClr val="1A1A1A"/>
                </a:solidFill>
                <a:latin typeface="Calibri" pitchFamily="34" charset="0"/>
                <a:ea typeface="Calibri" pitchFamily="34" charset="-122"/>
                <a:cs typeface="Calibri" pitchFamily="34" charset="-120"/>
              </a:rPr>
              <a:t>A structured feedback loop that validates every tool result before it enters downstream reasoning.</a:t>
            </a:r>
            <a:endParaRPr lang="en-GB" sz="1600" dirty="0"/>
          </a:p>
        </p:txBody>
      </p:sp>
      <p:sp>
        <p:nvSpPr>
          <p:cNvPr id="2" name="Google Shape;130;p7">
            <a:extLst>
              <a:ext uri="{FF2B5EF4-FFF2-40B4-BE49-F238E27FC236}">
                <a16:creationId xmlns:a16="http://schemas.microsoft.com/office/drawing/2014/main" id="{40718E3A-C5D1-1885-75C4-509F0EA016CC}"/>
              </a:ext>
            </a:extLst>
          </p:cNvPr>
          <p:cNvSpPr txBox="1">
            <a:spLocks/>
          </p:cNvSpPr>
          <p:nvPr/>
        </p:nvSpPr>
        <p:spPr>
          <a:xfrm>
            <a:off x="420329" y="3313497"/>
            <a:ext cx="8303342" cy="301413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114300" indent="0">
              <a:buNone/>
            </a:pPr>
            <a:r>
              <a:rPr lang="en-US" sz="1600" dirty="0">
                <a:solidFill>
                  <a:srgbClr val="1A1A1A"/>
                </a:solidFill>
                <a:latin typeface="Calibri" pitchFamily="34" charset="0"/>
                <a:ea typeface="Calibri" pitchFamily="34" charset="-122"/>
                <a:cs typeface="Calibri" pitchFamily="34" charset="-120"/>
              </a:rPr>
              <a:t> At runtime, the LLM Designer reads the problem description and dynamically synthesizes a multi-stage workflow — selecting the appropriate operator chain based on whether the task requires structured database retrieval </a:t>
            </a:r>
          </a:p>
          <a:p>
            <a:pPr marL="114300" indent="0">
              <a:buNone/>
            </a:pPr>
            <a:r>
              <a:rPr lang="en-US" sz="1600" dirty="0">
                <a:solidFill>
                  <a:srgbClr val="1A1A1A"/>
                </a:solidFill>
                <a:latin typeface="Calibri" pitchFamily="34" charset="0"/>
                <a:ea typeface="Calibri" pitchFamily="34" charset="-122"/>
                <a:cs typeface="Calibri" pitchFamily="34" charset="-120"/>
              </a:rPr>
              <a:t>SQL_GENERATE → SQL_QUERY → TOOL_REVIEW → RESULT_EXTRACT</a:t>
            </a:r>
          </a:p>
          <a:p>
            <a:pPr marL="114300" indent="0">
              <a:buNone/>
            </a:pPr>
            <a:r>
              <a:rPr lang="en-US" sz="1600" b="1" dirty="0">
                <a:solidFill>
                  <a:srgbClr val="1A1A1A"/>
                </a:solidFill>
                <a:latin typeface="Calibri" pitchFamily="34" charset="0"/>
                <a:ea typeface="Calibri" pitchFamily="34" charset="-122"/>
                <a:cs typeface="Calibri" pitchFamily="34" charset="-120"/>
              </a:rPr>
              <a:t>live web knowledge</a:t>
            </a:r>
            <a:r>
              <a:rPr lang="en-US" sz="1600" dirty="0">
                <a:solidFill>
                  <a:srgbClr val="1A1A1A"/>
                </a:solidFill>
                <a:latin typeface="Calibri" pitchFamily="34" charset="0"/>
                <a:ea typeface="Calibri" pitchFamily="34" charset="-122"/>
                <a:cs typeface="Calibri" pitchFamily="34" charset="-120"/>
              </a:rPr>
              <a:t> </a:t>
            </a:r>
          </a:p>
          <a:p>
            <a:pPr marL="114300" indent="0">
              <a:buNone/>
            </a:pPr>
            <a:r>
              <a:rPr lang="en-US" sz="1600" dirty="0">
                <a:solidFill>
                  <a:srgbClr val="1A1A1A"/>
                </a:solidFill>
                <a:latin typeface="Calibri" pitchFamily="34" charset="0"/>
                <a:ea typeface="Calibri" pitchFamily="34" charset="-122"/>
                <a:cs typeface="Calibri" pitchFamily="34" charset="-120"/>
              </a:rPr>
              <a:t>SEARCH_QUERY_FORMULATE → WEB_SEARCH → TOOL_REVIEW → RESULT_EXTRACT.</a:t>
            </a:r>
          </a:p>
          <a:p>
            <a:pPr marL="114300" indent="0">
              <a:buNone/>
            </a:pPr>
            <a:endParaRPr lang="en-US" sz="1600" dirty="0">
              <a:solidFill>
                <a:srgbClr val="1A1A1A"/>
              </a:solidFill>
              <a:latin typeface="Calibri" pitchFamily="34" charset="0"/>
              <a:ea typeface="Calibri" pitchFamily="34" charset="-122"/>
              <a:cs typeface="Calibri" pitchFamily="34" charset="-120"/>
            </a:endParaRPr>
          </a:p>
          <a:p>
            <a:pPr marL="114300" indent="0">
              <a:buNone/>
            </a:pPr>
            <a:r>
              <a:rPr lang="en-US" sz="1600" dirty="0">
                <a:solidFill>
                  <a:srgbClr val="1A1A1A"/>
                </a:solidFill>
                <a:latin typeface="Calibri" pitchFamily="34" charset="0"/>
                <a:ea typeface="Calibri" pitchFamily="34" charset="-122"/>
                <a:cs typeface="Calibri" pitchFamily="34" charset="-120"/>
              </a:rPr>
              <a:t>The </a:t>
            </a:r>
            <a:r>
              <a:rPr lang="en-US" sz="1600" b="1" dirty="0">
                <a:solidFill>
                  <a:srgbClr val="1A1A1A"/>
                </a:solidFill>
                <a:latin typeface="Calibri" pitchFamily="34" charset="0"/>
                <a:ea typeface="Calibri" pitchFamily="34" charset="-122"/>
                <a:cs typeface="Calibri" pitchFamily="34" charset="-120"/>
              </a:rPr>
              <a:t>SQL_QUERY </a:t>
            </a:r>
            <a:r>
              <a:rPr lang="en-US" sz="1600" dirty="0">
                <a:solidFill>
                  <a:srgbClr val="1A1A1A"/>
                </a:solidFill>
                <a:latin typeface="Calibri" pitchFamily="34" charset="0"/>
                <a:ea typeface="Calibri" pitchFamily="34" charset="-122"/>
                <a:cs typeface="Calibri" pitchFamily="34" charset="-120"/>
              </a:rPr>
              <a:t>operator connects to a SQLite database via </a:t>
            </a:r>
            <a:r>
              <a:rPr lang="en-US" sz="1600" dirty="0" err="1">
                <a:solidFill>
                  <a:srgbClr val="1A1A1A"/>
                </a:solidFill>
                <a:latin typeface="Calibri" pitchFamily="34" charset="0"/>
                <a:ea typeface="Calibri" pitchFamily="34" charset="-122"/>
                <a:cs typeface="Calibri" pitchFamily="34" charset="-120"/>
              </a:rPr>
              <a:t>SQLAlchemy</a:t>
            </a:r>
            <a:r>
              <a:rPr lang="en-US" sz="1600" dirty="0">
                <a:solidFill>
                  <a:srgbClr val="1A1A1A"/>
                </a:solidFill>
                <a:latin typeface="Calibri" pitchFamily="34" charset="0"/>
                <a:ea typeface="Calibri" pitchFamily="34" charset="-122"/>
                <a:cs typeface="Calibri" pitchFamily="34" charset="-120"/>
              </a:rPr>
              <a:t> and returns actual executed rows; the </a:t>
            </a:r>
            <a:r>
              <a:rPr lang="en-US" sz="1600" dirty="0" err="1">
                <a:solidFill>
                  <a:srgbClr val="1A1A1A"/>
                </a:solidFill>
                <a:latin typeface="Calibri" pitchFamily="34" charset="0"/>
                <a:ea typeface="Calibri" pitchFamily="34" charset="-122"/>
                <a:cs typeface="Calibri" pitchFamily="34" charset="-120"/>
              </a:rPr>
              <a:t>WebSearchTool</a:t>
            </a:r>
            <a:r>
              <a:rPr lang="en-US" sz="1600" dirty="0">
                <a:solidFill>
                  <a:srgbClr val="1A1A1A"/>
                </a:solidFill>
                <a:latin typeface="Calibri" pitchFamily="34" charset="0"/>
                <a:ea typeface="Calibri" pitchFamily="34" charset="-122"/>
                <a:cs typeface="Calibri" pitchFamily="34" charset="-120"/>
              </a:rPr>
              <a:t> invokes the </a:t>
            </a:r>
            <a:r>
              <a:rPr lang="en-US" sz="1600" dirty="0" err="1">
                <a:solidFill>
                  <a:srgbClr val="1A1A1A"/>
                </a:solidFill>
                <a:latin typeface="Calibri" pitchFamily="34" charset="0"/>
                <a:ea typeface="Calibri" pitchFamily="34" charset="-122"/>
                <a:cs typeface="Calibri" pitchFamily="34" charset="-120"/>
              </a:rPr>
              <a:t>SerpAPI</a:t>
            </a:r>
            <a:r>
              <a:rPr lang="en-US" sz="1600" dirty="0">
                <a:solidFill>
                  <a:srgbClr val="1A1A1A"/>
                </a:solidFill>
                <a:latin typeface="Calibri" pitchFamily="34" charset="0"/>
                <a:ea typeface="Calibri" pitchFamily="34" charset="-122"/>
                <a:cs typeface="Calibri" pitchFamily="34" charset="-120"/>
              </a:rPr>
              <a:t> to retrieve live web content. In both cases, the TOOL_REVIEW operator acts as a quality gate — accepting valid results, triggering TOOL_REFINE for correctable failures, or escalating to the designer for replanning. </a:t>
            </a:r>
            <a:endParaRPr lang="en-GB" sz="1600" dirty="0"/>
          </a:p>
        </p:txBody>
      </p:sp>
    </p:spTree>
    <p:extLst>
      <p:ext uri="{BB962C8B-B14F-4D97-AF65-F5344CB8AC3E}">
        <p14:creationId xmlns:p14="http://schemas.microsoft.com/office/powerpoint/2010/main" val="2316936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E6429C04-0098-D46F-D0B6-BD9FE1A1E405}"/>
            </a:ext>
          </a:extLst>
        </p:cNvPr>
        <p:cNvGrpSpPr/>
        <p:nvPr/>
      </p:nvGrpSpPr>
      <p:grpSpPr>
        <a:xfrm>
          <a:off x="0" y="0"/>
          <a:ext cx="0" cy="0"/>
          <a:chOff x="0" y="0"/>
          <a:chExt cx="0" cy="0"/>
        </a:xfrm>
      </p:grpSpPr>
      <p:sp>
        <p:nvSpPr>
          <p:cNvPr id="129" name="Google Shape;129;p7">
            <a:extLst>
              <a:ext uri="{FF2B5EF4-FFF2-40B4-BE49-F238E27FC236}">
                <a16:creationId xmlns:a16="http://schemas.microsoft.com/office/drawing/2014/main" id="{95175F70-1882-CEE2-621E-AF4972A0C2B3}"/>
              </a:ext>
            </a:extLst>
          </p:cNvPr>
          <p:cNvSpPr txBox="1">
            <a:spLocks noGrp="1"/>
          </p:cNvSpPr>
          <p:nvPr>
            <p:ph type="title"/>
          </p:nvPr>
        </p:nvSpPr>
        <p:spPr>
          <a:xfrm>
            <a:off x="1050121" y="197357"/>
            <a:ext cx="7043758" cy="683177"/>
          </a:xfrm>
          <a:prstGeom prst="rect">
            <a:avLst/>
          </a:prstGeom>
          <a:noFill/>
          <a:ln>
            <a:noFill/>
          </a:ln>
        </p:spPr>
        <p:txBody>
          <a:bodyPr spcFirstLastPara="1" wrap="square" lIns="91425" tIns="45700" rIns="91425" bIns="45700" anchor="ctr" anchorCtr="0">
            <a:normAutofit fontScale="90000"/>
          </a:bodyPr>
          <a:lstStyle/>
          <a:p>
            <a:pPr lvl="0">
              <a:buSzPts val="4400"/>
            </a:pPr>
            <a:r>
              <a:rPr lang="en-IN" dirty="0"/>
              <a:t>Proposed Architecture</a:t>
            </a:r>
            <a:endParaRPr dirty="0"/>
          </a:p>
        </p:txBody>
      </p:sp>
      <p:pic>
        <p:nvPicPr>
          <p:cNvPr id="2" name="image24.png">
            <a:extLst>
              <a:ext uri="{FF2B5EF4-FFF2-40B4-BE49-F238E27FC236}">
                <a16:creationId xmlns:a16="http://schemas.microsoft.com/office/drawing/2014/main" id="{C78AC960-2F4C-16AC-3301-88F159808AC8}"/>
              </a:ext>
            </a:extLst>
          </p:cNvPr>
          <p:cNvPicPr/>
          <p:nvPr/>
        </p:nvPicPr>
        <p:blipFill>
          <a:blip r:embed="rId3"/>
          <a:srcRect/>
          <a:stretch>
            <a:fillRect/>
          </a:stretch>
        </p:blipFill>
        <p:spPr>
          <a:xfrm>
            <a:off x="1433015" y="1173707"/>
            <a:ext cx="6277969" cy="4708477"/>
          </a:xfrm>
          <a:prstGeom prst="rect">
            <a:avLst/>
          </a:prstGeom>
          <a:ln/>
        </p:spPr>
      </p:pic>
    </p:spTree>
    <p:extLst>
      <p:ext uri="{BB962C8B-B14F-4D97-AF65-F5344CB8AC3E}">
        <p14:creationId xmlns:p14="http://schemas.microsoft.com/office/powerpoint/2010/main" val="2945087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2DEE615-30C9-2F3D-90D3-1278288C97B2}"/>
              </a:ext>
            </a:extLst>
          </p:cNvPr>
          <p:cNvSpPr/>
          <p:nvPr/>
        </p:nvSpPr>
        <p:spPr>
          <a:xfrm>
            <a:off x="357601" y="2178822"/>
            <a:ext cx="806552" cy="486696"/>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IN" sz="1050" dirty="0">
                <a:latin typeface="Times New Roman" panose="02020603050405020304" pitchFamily="18" charset="0"/>
                <a:cs typeface="Times New Roman" panose="02020603050405020304" pitchFamily="18" charset="0"/>
              </a:rPr>
              <a:t>Task P</a:t>
            </a:r>
          </a:p>
        </p:txBody>
      </p:sp>
      <p:sp>
        <p:nvSpPr>
          <p:cNvPr id="5" name="Rectangle 4">
            <a:extLst>
              <a:ext uri="{FF2B5EF4-FFF2-40B4-BE49-F238E27FC236}">
                <a16:creationId xmlns:a16="http://schemas.microsoft.com/office/drawing/2014/main" id="{D54D0B02-7D8A-D5B0-C35A-F0213FBD184E}"/>
              </a:ext>
            </a:extLst>
          </p:cNvPr>
          <p:cNvSpPr/>
          <p:nvPr/>
        </p:nvSpPr>
        <p:spPr>
          <a:xfrm>
            <a:off x="2230088" y="2178822"/>
            <a:ext cx="1618635" cy="486696"/>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IN" sz="1050" dirty="0" err="1">
                <a:latin typeface="Times New Roman" panose="02020603050405020304" pitchFamily="18" charset="0"/>
                <a:cs typeface="Times New Roman" panose="02020603050405020304" pitchFamily="18" charset="0"/>
              </a:rPr>
              <a:t>DyFlow</a:t>
            </a:r>
            <a:r>
              <a:rPr lang="en-IN" sz="1050" dirty="0">
                <a:latin typeface="Times New Roman" panose="02020603050405020304" pitchFamily="18" charset="0"/>
                <a:cs typeface="Times New Roman" panose="02020603050405020304" pitchFamily="18" charset="0"/>
              </a:rPr>
              <a:t> Designer</a:t>
            </a:r>
          </a:p>
        </p:txBody>
      </p:sp>
      <p:sp>
        <p:nvSpPr>
          <p:cNvPr id="6" name="Rectangle 5">
            <a:extLst>
              <a:ext uri="{FF2B5EF4-FFF2-40B4-BE49-F238E27FC236}">
                <a16:creationId xmlns:a16="http://schemas.microsoft.com/office/drawing/2014/main" id="{87D73807-55D9-5C02-B13E-27EB71D52A0A}"/>
              </a:ext>
            </a:extLst>
          </p:cNvPr>
          <p:cNvSpPr/>
          <p:nvPr/>
        </p:nvSpPr>
        <p:spPr>
          <a:xfrm>
            <a:off x="4416145" y="2178822"/>
            <a:ext cx="1618635" cy="486696"/>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IN" sz="1050" dirty="0" err="1">
                <a:latin typeface="Times New Roman" panose="02020603050405020304" pitchFamily="18" charset="0"/>
                <a:cs typeface="Times New Roman" panose="02020603050405020304" pitchFamily="18" charset="0"/>
              </a:rPr>
              <a:t>DyFlow</a:t>
            </a:r>
            <a:r>
              <a:rPr lang="en-IN" sz="1050" dirty="0">
                <a:latin typeface="Times New Roman" panose="02020603050405020304" pitchFamily="18" charset="0"/>
                <a:cs typeface="Times New Roman" panose="02020603050405020304" pitchFamily="18" charset="0"/>
              </a:rPr>
              <a:t> Executor</a:t>
            </a:r>
          </a:p>
        </p:txBody>
      </p:sp>
      <p:sp>
        <p:nvSpPr>
          <p:cNvPr id="7" name="Rectangle 6">
            <a:extLst>
              <a:ext uri="{FF2B5EF4-FFF2-40B4-BE49-F238E27FC236}">
                <a16:creationId xmlns:a16="http://schemas.microsoft.com/office/drawing/2014/main" id="{901D103A-8958-2318-7EA6-16837D17CE29}"/>
              </a:ext>
            </a:extLst>
          </p:cNvPr>
          <p:cNvSpPr/>
          <p:nvPr/>
        </p:nvSpPr>
        <p:spPr>
          <a:xfrm>
            <a:off x="5512374" y="3513550"/>
            <a:ext cx="1209784" cy="486696"/>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IN" sz="1050" dirty="0">
                <a:latin typeface="Times New Roman" panose="02020603050405020304" pitchFamily="18" charset="0"/>
                <a:cs typeface="Times New Roman" panose="02020603050405020304" pitchFamily="18" charset="0"/>
              </a:rPr>
              <a:t>Execution Status</a:t>
            </a:r>
          </a:p>
        </p:txBody>
      </p:sp>
      <p:sp>
        <p:nvSpPr>
          <p:cNvPr id="8" name="Rectangle 7">
            <a:extLst>
              <a:ext uri="{FF2B5EF4-FFF2-40B4-BE49-F238E27FC236}">
                <a16:creationId xmlns:a16="http://schemas.microsoft.com/office/drawing/2014/main" id="{09D5BBBE-A2BC-0665-6D4A-9E9F61C9A836}"/>
              </a:ext>
            </a:extLst>
          </p:cNvPr>
          <p:cNvSpPr/>
          <p:nvPr/>
        </p:nvSpPr>
        <p:spPr>
          <a:xfrm>
            <a:off x="3981255" y="3513551"/>
            <a:ext cx="1135626" cy="486696"/>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IN" sz="1050" dirty="0">
                <a:latin typeface="Times New Roman" panose="02020603050405020304" pitchFamily="18" charset="0"/>
                <a:cs typeface="Times New Roman" panose="02020603050405020304" pitchFamily="18" charset="0"/>
              </a:rPr>
              <a:t>Execution Summary</a:t>
            </a:r>
          </a:p>
        </p:txBody>
      </p:sp>
      <p:sp>
        <p:nvSpPr>
          <p:cNvPr id="9" name="Rectangle 8">
            <a:extLst>
              <a:ext uri="{FF2B5EF4-FFF2-40B4-BE49-F238E27FC236}">
                <a16:creationId xmlns:a16="http://schemas.microsoft.com/office/drawing/2014/main" id="{CB161F7D-F659-299A-3286-32CAEFE4A5E6}"/>
              </a:ext>
            </a:extLst>
          </p:cNvPr>
          <p:cNvSpPr/>
          <p:nvPr/>
        </p:nvSpPr>
        <p:spPr>
          <a:xfrm>
            <a:off x="3447789" y="5091626"/>
            <a:ext cx="660015" cy="486696"/>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IN" sz="1050" dirty="0">
                <a:latin typeface="Times New Roman" panose="02020603050405020304" pitchFamily="18" charset="0"/>
                <a:cs typeface="Times New Roman" panose="02020603050405020304" pitchFamily="18" charset="0"/>
              </a:rPr>
              <a:t>Iterator</a:t>
            </a:r>
          </a:p>
        </p:txBody>
      </p:sp>
      <p:cxnSp>
        <p:nvCxnSpPr>
          <p:cNvPr id="11" name="Straight Arrow Connector 10">
            <a:extLst>
              <a:ext uri="{FF2B5EF4-FFF2-40B4-BE49-F238E27FC236}">
                <a16:creationId xmlns:a16="http://schemas.microsoft.com/office/drawing/2014/main" id="{A00CED34-9DD8-5951-DD4F-DA516ED3108C}"/>
              </a:ext>
            </a:extLst>
          </p:cNvPr>
          <p:cNvCxnSpPr>
            <a:endCxn id="5" idx="1"/>
          </p:cNvCxnSpPr>
          <p:nvPr/>
        </p:nvCxnSpPr>
        <p:spPr>
          <a:xfrm>
            <a:off x="1157143" y="2422170"/>
            <a:ext cx="10729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CDC7BFA-C576-B960-3304-CA5DF05C2DDA}"/>
              </a:ext>
            </a:extLst>
          </p:cNvPr>
          <p:cNvCxnSpPr>
            <a:stCxn id="5" idx="3"/>
            <a:endCxn id="6" idx="1"/>
          </p:cNvCxnSpPr>
          <p:nvPr/>
        </p:nvCxnSpPr>
        <p:spPr>
          <a:xfrm>
            <a:off x="3848723" y="2422170"/>
            <a:ext cx="5674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00D3DB3-5963-5564-F2EA-1F88F64C0067}"/>
              </a:ext>
            </a:extLst>
          </p:cNvPr>
          <p:cNvCxnSpPr>
            <a:cxnSpLocks/>
            <a:stCxn id="6" idx="2"/>
            <a:endCxn id="8" idx="0"/>
          </p:cNvCxnSpPr>
          <p:nvPr/>
        </p:nvCxnSpPr>
        <p:spPr>
          <a:xfrm flipH="1">
            <a:off x="4549069" y="2665518"/>
            <a:ext cx="676394" cy="848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2A998B4-D53A-16F1-E52F-8126C13B0B6A}"/>
              </a:ext>
            </a:extLst>
          </p:cNvPr>
          <p:cNvCxnSpPr>
            <a:cxnSpLocks/>
            <a:stCxn id="6" idx="2"/>
            <a:endCxn id="7" idx="0"/>
          </p:cNvCxnSpPr>
          <p:nvPr/>
        </p:nvCxnSpPr>
        <p:spPr>
          <a:xfrm>
            <a:off x="5225462" y="2665518"/>
            <a:ext cx="891804" cy="84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113697B6-03F1-2778-A95F-E94B8103B9F0}"/>
              </a:ext>
            </a:extLst>
          </p:cNvPr>
          <p:cNvCxnSpPr>
            <a:cxnSpLocks/>
            <a:stCxn id="8" idx="2"/>
            <a:endCxn id="9" idx="3"/>
          </p:cNvCxnSpPr>
          <p:nvPr/>
        </p:nvCxnSpPr>
        <p:spPr>
          <a:xfrm rot="5400000">
            <a:off x="3661073" y="4446978"/>
            <a:ext cx="1334728" cy="44126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C189E95-CBA0-89EE-CD17-BF6BAC1AC8C8}"/>
              </a:ext>
            </a:extLst>
          </p:cNvPr>
          <p:cNvCxnSpPr>
            <a:cxnSpLocks/>
            <a:stCxn id="7" idx="2"/>
            <a:endCxn id="9" idx="3"/>
          </p:cNvCxnSpPr>
          <p:nvPr/>
        </p:nvCxnSpPr>
        <p:spPr>
          <a:xfrm rot="5400000">
            <a:off x="4445171" y="3662880"/>
            <a:ext cx="1334729" cy="20094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13FBE7DB-D201-9C56-E245-144717C976E0}"/>
              </a:ext>
            </a:extLst>
          </p:cNvPr>
          <p:cNvCxnSpPr>
            <a:cxnSpLocks/>
            <a:stCxn id="9" idx="1"/>
            <a:endCxn id="5" idx="2"/>
          </p:cNvCxnSpPr>
          <p:nvPr/>
        </p:nvCxnSpPr>
        <p:spPr>
          <a:xfrm rot="10800000">
            <a:off x="3039407" y="2665519"/>
            <a:ext cx="408383" cy="266945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2C8F944-E5EC-58A4-097D-52E9BC8A78B7}"/>
              </a:ext>
            </a:extLst>
          </p:cNvPr>
          <p:cNvSpPr txBox="1"/>
          <p:nvPr/>
        </p:nvSpPr>
        <p:spPr>
          <a:xfrm>
            <a:off x="2203354" y="3528299"/>
            <a:ext cx="700550" cy="253916"/>
          </a:xfrm>
          <a:prstGeom prst="rect">
            <a:avLst/>
          </a:prstGeom>
          <a:noFill/>
        </p:spPr>
        <p:txBody>
          <a:bodyPr wrap="square" rtlCol="0">
            <a:spAutoFit/>
          </a:bodyPr>
          <a:lstStyle/>
          <a:p>
            <a:r>
              <a:rPr lang="en-IN" sz="1050" dirty="0">
                <a:latin typeface="Times New Roman" panose="02020603050405020304" pitchFamily="18" charset="0"/>
                <a:cs typeface="Times New Roman" panose="02020603050405020304" pitchFamily="18" charset="0"/>
              </a:rPr>
              <a:t>Replan</a:t>
            </a:r>
          </a:p>
        </p:txBody>
      </p:sp>
      <p:sp>
        <p:nvSpPr>
          <p:cNvPr id="27" name="TextBox 26">
            <a:extLst>
              <a:ext uri="{FF2B5EF4-FFF2-40B4-BE49-F238E27FC236}">
                <a16:creationId xmlns:a16="http://schemas.microsoft.com/office/drawing/2014/main" id="{1DCC447B-0E48-3251-E769-94AEB031ECC3}"/>
              </a:ext>
            </a:extLst>
          </p:cNvPr>
          <p:cNvSpPr txBox="1"/>
          <p:nvPr/>
        </p:nvSpPr>
        <p:spPr>
          <a:xfrm>
            <a:off x="1147924" y="2422170"/>
            <a:ext cx="1091381" cy="253916"/>
          </a:xfrm>
          <a:prstGeom prst="rect">
            <a:avLst/>
          </a:prstGeom>
          <a:noFill/>
        </p:spPr>
        <p:txBody>
          <a:bodyPr wrap="square" rtlCol="0">
            <a:spAutoFit/>
          </a:bodyPr>
          <a:lstStyle/>
          <a:p>
            <a:r>
              <a:rPr lang="en-IN" sz="1050" dirty="0">
                <a:latin typeface="Times New Roman" panose="02020603050405020304" pitchFamily="18" charset="0"/>
                <a:cs typeface="Times New Roman" panose="02020603050405020304" pitchFamily="18" charset="0"/>
              </a:rPr>
              <a:t>Task feeding</a:t>
            </a:r>
          </a:p>
        </p:txBody>
      </p:sp>
      <p:pic>
        <p:nvPicPr>
          <p:cNvPr id="1025" name="Picture 1">
            <a:extLst>
              <a:ext uri="{FF2B5EF4-FFF2-40B4-BE49-F238E27FC236}">
                <a16:creationId xmlns:a16="http://schemas.microsoft.com/office/drawing/2014/main" id="{6973BE00-EF23-3A32-C6C4-8489A18C4F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0189" y="1305205"/>
            <a:ext cx="1803398" cy="2241557"/>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a:extLst>
              <a:ext uri="{FF2B5EF4-FFF2-40B4-BE49-F238E27FC236}">
                <a16:creationId xmlns:a16="http://schemas.microsoft.com/office/drawing/2014/main" id="{83FB7FDE-40A8-6FC5-D204-BFE13DAAD00D}"/>
              </a:ext>
            </a:extLst>
          </p:cNvPr>
          <p:cNvCxnSpPr>
            <a:stCxn id="1025" idx="1"/>
            <a:endCxn id="6" idx="3"/>
          </p:cNvCxnSpPr>
          <p:nvPr/>
        </p:nvCxnSpPr>
        <p:spPr>
          <a:xfrm flipH="1" flipV="1">
            <a:off x="6034780" y="2422170"/>
            <a:ext cx="695409" cy="3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C02EBAC6-3D87-5742-797F-F68F4AD4E7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8209" y="4234724"/>
            <a:ext cx="824053" cy="828194"/>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717D7EAA-DC19-8445-3179-7B1AC1377F8E}"/>
              </a:ext>
            </a:extLst>
          </p:cNvPr>
          <p:cNvSpPr txBox="1"/>
          <p:nvPr/>
        </p:nvSpPr>
        <p:spPr>
          <a:xfrm>
            <a:off x="3513218" y="1665889"/>
            <a:ext cx="1298088" cy="415498"/>
          </a:xfrm>
          <a:prstGeom prst="rect">
            <a:avLst/>
          </a:prstGeom>
          <a:noFill/>
        </p:spPr>
        <p:txBody>
          <a:bodyPr wrap="square" rtlCol="0">
            <a:spAutoFit/>
          </a:bodyPr>
          <a:lstStyle/>
          <a:p>
            <a:r>
              <a:rPr lang="en-IN" sz="1050" dirty="0">
                <a:latin typeface="Times New Roman" panose="02020603050405020304" pitchFamily="18" charset="0"/>
                <a:cs typeface="Times New Roman" panose="02020603050405020304" pitchFamily="18" charset="0"/>
              </a:rPr>
              <a:t>Complete Plan with operators and Tools</a:t>
            </a:r>
          </a:p>
        </p:txBody>
      </p:sp>
      <p:sp>
        <p:nvSpPr>
          <p:cNvPr id="38" name="TextBox 37">
            <a:extLst>
              <a:ext uri="{FF2B5EF4-FFF2-40B4-BE49-F238E27FC236}">
                <a16:creationId xmlns:a16="http://schemas.microsoft.com/office/drawing/2014/main" id="{05053BB4-5FCC-6B90-2235-27FD169AC6E8}"/>
              </a:ext>
            </a:extLst>
          </p:cNvPr>
          <p:cNvSpPr txBox="1"/>
          <p:nvPr/>
        </p:nvSpPr>
        <p:spPr>
          <a:xfrm>
            <a:off x="4618362" y="4155780"/>
            <a:ext cx="1433143" cy="415498"/>
          </a:xfrm>
          <a:prstGeom prst="rect">
            <a:avLst/>
          </a:prstGeom>
          <a:noFill/>
        </p:spPr>
        <p:txBody>
          <a:bodyPr wrap="square" rtlCol="0">
            <a:spAutoFit/>
          </a:bodyPr>
          <a:lstStyle/>
          <a:p>
            <a:r>
              <a:rPr lang="en-IN" sz="1050" dirty="0">
                <a:latin typeface="Times New Roman" panose="02020603050405020304" pitchFamily="18" charset="0"/>
                <a:cs typeface="Times New Roman" panose="02020603050405020304" pitchFamily="18" charset="0"/>
              </a:rPr>
              <a:t>Execution status with Orchestrator Output</a:t>
            </a:r>
          </a:p>
        </p:txBody>
      </p:sp>
      <p:sp>
        <p:nvSpPr>
          <p:cNvPr id="2" name="Google Shape;129;p7">
            <a:extLst>
              <a:ext uri="{FF2B5EF4-FFF2-40B4-BE49-F238E27FC236}">
                <a16:creationId xmlns:a16="http://schemas.microsoft.com/office/drawing/2014/main" id="{D66C9DAA-3890-C6CB-0E8A-FCB3B808A065}"/>
              </a:ext>
            </a:extLst>
          </p:cNvPr>
          <p:cNvSpPr txBox="1">
            <a:spLocks/>
          </p:cNvSpPr>
          <p:nvPr/>
        </p:nvSpPr>
        <p:spPr>
          <a:xfrm>
            <a:off x="326844" y="280439"/>
            <a:ext cx="7043758" cy="683177"/>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IN" dirty="0"/>
              <a:t>Proposed Architecture - Basic</a:t>
            </a:r>
          </a:p>
        </p:txBody>
      </p:sp>
      <p:sp>
        <p:nvSpPr>
          <p:cNvPr id="3" name="TextBox 2">
            <a:extLst>
              <a:ext uri="{FF2B5EF4-FFF2-40B4-BE49-F238E27FC236}">
                <a16:creationId xmlns:a16="http://schemas.microsoft.com/office/drawing/2014/main" id="{4840DB8B-417E-F8C1-5BA9-44F700126A92}"/>
              </a:ext>
            </a:extLst>
          </p:cNvPr>
          <p:cNvSpPr txBox="1"/>
          <p:nvPr/>
        </p:nvSpPr>
        <p:spPr>
          <a:xfrm>
            <a:off x="2812668" y="5363683"/>
            <a:ext cx="700550" cy="253916"/>
          </a:xfrm>
          <a:prstGeom prst="rect">
            <a:avLst/>
          </a:prstGeom>
          <a:noFill/>
        </p:spPr>
        <p:txBody>
          <a:bodyPr wrap="square" rtlCol="0">
            <a:spAutoFit/>
          </a:bodyPr>
          <a:lstStyle/>
          <a:p>
            <a:r>
              <a:rPr lang="en-IN" sz="1050" dirty="0" err="1">
                <a:latin typeface="Times New Roman" panose="02020603050405020304" pitchFamily="18" charset="0"/>
                <a:cs typeface="Times New Roman" panose="02020603050405020304" pitchFamily="18" charset="0"/>
              </a:rPr>
              <a:t>Esclate</a:t>
            </a:r>
            <a:endParaRPr lang="en-IN" sz="1050"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F0FE812-4585-2883-999F-A7D2EFB46E1F}"/>
              </a:ext>
            </a:extLst>
          </p:cNvPr>
          <p:cNvSpPr/>
          <p:nvPr/>
        </p:nvSpPr>
        <p:spPr>
          <a:xfrm>
            <a:off x="7631888" y="5091626"/>
            <a:ext cx="806552" cy="486696"/>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IN" sz="1050" dirty="0">
                <a:latin typeface="Times New Roman" panose="02020603050405020304" pitchFamily="18" charset="0"/>
                <a:cs typeface="Times New Roman" panose="02020603050405020304" pitchFamily="18" charset="0"/>
              </a:rPr>
              <a:t>Output</a:t>
            </a:r>
          </a:p>
        </p:txBody>
      </p:sp>
      <p:cxnSp>
        <p:nvCxnSpPr>
          <p:cNvPr id="14" name="Connector: Elbow 13">
            <a:extLst>
              <a:ext uri="{FF2B5EF4-FFF2-40B4-BE49-F238E27FC236}">
                <a16:creationId xmlns:a16="http://schemas.microsoft.com/office/drawing/2014/main" id="{2364DF1B-6C28-923C-8B0A-7BD8EF0E7A4E}"/>
              </a:ext>
            </a:extLst>
          </p:cNvPr>
          <p:cNvCxnSpPr>
            <a:stCxn id="9" idx="2"/>
            <a:endCxn id="10" idx="2"/>
          </p:cNvCxnSpPr>
          <p:nvPr/>
        </p:nvCxnSpPr>
        <p:spPr>
          <a:xfrm rot="16200000" flipH="1">
            <a:off x="5906480" y="3449638"/>
            <a:ext cx="12700" cy="4257367"/>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7778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7CE90B7E-5296-8C95-D187-1331AE960B2A}"/>
            </a:ext>
          </a:extLst>
        </p:cNvPr>
        <p:cNvGrpSpPr/>
        <p:nvPr/>
      </p:nvGrpSpPr>
      <p:grpSpPr>
        <a:xfrm>
          <a:off x="0" y="0"/>
          <a:ext cx="0" cy="0"/>
          <a:chOff x="0" y="0"/>
          <a:chExt cx="0" cy="0"/>
        </a:xfrm>
      </p:grpSpPr>
      <p:sp>
        <p:nvSpPr>
          <p:cNvPr id="129" name="Google Shape;129;p7">
            <a:extLst>
              <a:ext uri="{FF2B5EF4-FFF2-40B4-BE49-F238E27FC236}">
                <a16:creationId xmlns:a16="http://schemas.microsoft.com/office/drawing/2014/main" id="{4F22B260-816A-64B9-3830-8456AB98DF8F}"/>
              </a:ext>
            </a:extLst>
          </p:cNvPr>
          <p:cNvSpPr txBox="1">
            <a:spLocks noGrp="1"/>
          </p:cNvSpPr>
          <p:nvPr>
            <p:ph type="title"/>
          </p:nvPr>
        </p:nvSpPr>
        <p:spPr>
          <a:xfrm>
            <a:off x="1050121" y="197357"/>
            <a:ext cx="7043758" cy="683177"/>
          </a:xfrm>
          <a:prstGeom prst="rect">
            <a:avLst/>
          </a:prstGeom>
          <a:noFill/>
          <a:ln>
            <a:noFill/>
          </a:ln>
        </p:spPr>
        <p:txBody>
          <a:bodyPr spcFirstLastPara="1" wrap="square" lIns="91425" tIns="45700" rIns="91425" bIns="45700" anchor="ctr" anchorCtr="0">
            <a:normAutofit fontScale="90000"/>
          </a:bodyPr>
          <a:lstStyle/>
          <a:p>
            <a:pPr lvl="0">
              <a:buSzPts val="4400"/>
            </a:pPr>
            <a:r>
              <a:rPr lang="en-IN" dirty="0"/>
              <a:t>Designer Architecture </a:t>
            </a:r>
            <a:endParaRPr dirty="0"/>
          </a:p>
        </p:txBody>
      </p:sp>
      <p:pic>
        <p:nvPicPr>
          <p:cNvPr id="1026" name="Picture 2">
            <a:extLst>
              <a:ext uri="{FF2B5EF4-FFF2-40B4-BE49-F238E27FC236}">
                <a16:creationId xmlns:a16="http://schemas.microsoft.com/office/drawing/2014/main" id="{D0C9AA0F-B596-05D1-3582-F6A537C2F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363" y="1521854"/>
            <a:ext cx="4635224" cy="290576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FC0118A6-B8BC-267E-C39A-FF25C431F21F}"/>
              </a:ext>
            </a:extLst>
          </p:cNvPr>
          <p:cNvPicPr>
            <a:picLocks noChangeAspect="1"/>
          </p:cNvPicPr>
          <p:nvPr/>
        </p:nvPicPr>
        <p:blipFill>
          <a:blip r:embed="rId4"/>
          <a:stretch>
            <a:fillRect/>
          </a:stretch>
        </p:blipFill>
        <p:spPr>
          <a:xfrm>
            <a:off x="6305550" y="1406118"/>
            <a:ext cx="2530266" cy="3137237"/>
          </a:xfrm>
          <a:prstGeom prst="rect">
            <a:avLst/>
          </a:prstGeom>
        </p:spPr>
      </p:pic>
    </p:spTree>
    <p:extLst>
      <p:ext uri="{BB962C8B-B14F-4D97-AF65-F5344CB8AC3E}">
        <p14:creationId xmlns:p14="http://schemas.microsoft.com/office/powerpoint/2010/main" val="3298015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C023B7A0-03A6-AE45-3298-A542300D8959}"/>
            </a:ext>
          </a:extLst>
        </p:cNvPr>
        <p:cNvGrpSpPr/>
        <p:nvPr/>
      </p:nvGrpSpPr>
      <p:grpSpPr>
        <a:xfrm>
          <a:off x="0" y="0"/>
          <a:ext cx="0" cy="0"/>
          <a:chOff x="0" y="0"/>
          <a:chExt cx="0" cy="0"/>
        </a:xfrm>
      </p:grpSpPr>
      <p:sp>
        <p:nvSpPr>
          <p:cNvPr id="129" name="Google Shape;129;p7">
            <a:extLst>
              <a:ext uri="{FF2B5EF4-FFF2-40B4-BE49-F238E27FC236}">
                <a16:creationId xmlns:a16="http://schemas.microsoft.com/office/drawing/2014/main" id="{9466526E-CA8F-5104-4EFA-EEFD66E8E8CC}"/>
              </a:ext>
            </a:extLst>
          </p:cNvPr>
          <p:cNvSpPr txBox="1">
            <a:spLocks noGrp="1"/>
          </p:cNvSpPr>
          <p:nvPr>
            <p:ph type="title"/>
          </p:nvPr>
        </p:nvSpPr>
        <p:spPr>
          <a:xfrm>
            <a:off x="1050121" y="197357"/>
            <a:ext cx="7043758" cy="683177"/>
          </a:xfrm>
          <a:prstGeom prst="rect">
            <a:avLst/>
          </a:prstGeom>
          <a:noFill/>
          <a:ln>
            <a:noFill/>
          </a:ln>
        </p:spPr>
        <p:txBody>
          <a:bodyPr spcFirstLastPara="1" wrap="square" lIns="91425" tIns="45700" rIns="91425" bIns="45700" anchor="ctr" anchorCtr="0">
            <a:normAutofit fontScale="90000"/>
          </a:bodyPr>
          <a:lstStyle/>
          <a:p>
            <a:pPr lvl="0">
              <a:buSzPts val="4400"/>
            </a:pPr>
            <a:r>
              <a:rPr lang="en-IN" dirty="0"/>
              <a:t>Proposed Algorithm</a:t>
            </a:r>
            <a:endParaRPr dirty="0"/>
          </a:p>
        </p:txBody>
      </p:sp>
      <p:pic>
        <p:nvPicPr>
          <p:cNvPr id="3" name="Picture 2">
            <a:extLst>
              <a:ext uri="{FF2B5EF4-FFF2-40B4-BE49-F238E27FC236}">
                <a16:creationId xmlns:a16="http://schemas.microsoft.com/office/drawing/2014/main" id="{2C21354E-3625-C5B8-9F6A-6DA908AC2C8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4959" y="956761"/>
            <a:ext cx="3430337" cy="4761043"/>
          </a:xfrm>
          <a:prstGeom prst="rect">
            <a:avLst/>
          </a:prstGeom>
          <a:noFill/>
          <a:ln>
            <a:noFill/>
          </a:ln>
        </p:spPr>
      </p:pic>
    </p:spTree>
    <p:extLst>
      <p:ext uri="{BB962C8B-B14F-4D97-AF65-F5344CB8AC3E}">
        <p14:creationId xmlns:p14="http://schemas.microsoft.com/office/powerpoint/2010/main" val="1431642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898E5E9B-128C-4863-143A-98D343F1CF1E}"/>
            </a:ext>
          </a:extLst>
        </p:cNvPr>
        <p:cNvGrpSpPr/>
        <p:nvPr/>
      </p:nvGrpSpPr>
      <p:grpSpPr>
        <a:xfrm>
          <a:off x="0" y="0"/>
          <a:ext cx="0" cy="0"/>
          <a:chOff x="0" y="0"/>
          <a:chExt cx="0" cy="0"/>
        </a:xfrm>
      </p:grpSpPr>
      <p:sp>
        <p:nvSpPr>
          <p:cNvPr id="129" name="Google Shape;129;p7">
            <a:extLst>
              <a:ext uri="{FF2B5EF4-FFF2-40B4-BE49-F238E27FC236}">
                <a16:creationId xmlns:a16="http://schemas.microsoft.com/office/drawing/2014/main" id="{3E605F6A-E26B-C1CE-A8E4-E680770BFC09}"/>
              </a:ext>
            </a:extLst>
          </p:cNvPr>
          <p:cNvSpPr txBox="1">
            <a:spLocks noGrp="1"/>
          </p:cNvSpPr>
          <p:nvPr>
            <p:ph type="title"/>
          </p:nvPr>
        </p:nvSpPr>
        <p:spPr>
          <a:xfrm>
            <a:off x="1050121" y="197357"/>
            <a:ext cx="7043758" cy="683177"/>
          </a:xfrm>
          <a:prstGeom prst="rect">
            <a:avLst/>
          </a:prstGeom>
          <a:noFill/>
          <a:ln>
            <a:noFill/>
          </a:ln>
        </p:spPr>
        <p:txBody>
          <a:bodyPr spcFirstLastPara="1" wrap="square" lIns="91425" tIns="45700" rIns="91425" bIns="45700" anchor="ctr" anchorCtr="0">
            <a:normAutofit fontScale="90000"/>
          </a:bodyPr>
          <a:lstStyle/>
          <a:p>
            <a:pPr lvl="0">
              <a:buSzPts val="4400"/>
            </a:pPr>
            <a:r>
              <a:rPr lang="en-IN" dirty="0"/>
              <a:t>Proposed Algorithm</a:t>
            </a:r>
            <a:endParaRPr dirty="0"/>
          </a:p>
        </p:txBody>
      </p:sp>
      <p:pic>
        <p:nvPicPr>
          <p:cNvPr id="4" name="Picture 3">
            <a:extLst>
              <a:ext uri="{FF2B5EF4-FFF2-40B4-BE49-F238E27FC236}">
                <a16:creationId xmlns:a16="http://schemas.microsoft.com/office/drawing/2014/main" id="{B4B39482-5BF9-2B7B-A438-E6E2E5F27334}"/>
              </a:ext>
            </a:extLst>
          </p:cNvPr>
          <p:cNvPicPr>
            <a:picLocks noChangeAspect="1"/>
          </p:cNvPicPr>
          <p:nvPr/>
        </p:nvPicPr>
        <p:blipFill>
          <a:blip r:embed="rId3"/>
          <a:stretch>
            <a:fillRect/>
          </a:stretch>
        </p:blipFill>
        <p:spPr>
          <a:xfrm>
            <a:off x="2409749" y="0"/>
            <a:ext cx="4324501" cy="5209058"/>
          </a:xfrm>
          <a:prstGeom prst="rect">
            <a:avLst/>
          </a:prstGeom>
        </p:spPr>
      </p:pic>
    </p:spTree>
    <p:extLst>
      <p:ext uri="{BB962C8B-B14F-4D97-AF65-F5344CB8AC3E}">
        <p14:creationId xmlns:p14="http://schemas.microsoft.com/office/powerpoint/2010/main" val="25155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76852E70-40F4-2069-74B4-8C6679D7C421}"/>
            </a:ext>
          </a:extLst>
        </p:cNvPr>
        <p:cNvGrpSpPr/>
        <p:nvPr/>
      </p:nvGrpSpPr>
      <p:grpSpPr>
        <a:xfrm>
          <a:off x="0" y="0"/>
          <a:ext cx="0" cy="0"/>
          <a:chOff x="0" y="0"/>
          <a:chExt cx="0" cy="0"/>
        </a:xfrm>
      </p:grpSpPr>
      <p:sp>
        <p:nvSpPr>
          <p:cNvPr id="94" name="Google Shape;94;p2">
            <a:extLst>
              <a:ext uri="{FF2B5EF4-FFF2-40B4-BE49-F238E27FC236}">
                <a16:creationId xmlns:a16="http://schemas.microsoft.com/office/drawing/2014/main" id="{7C76F617-D910-6228-5616-E17CA34AA891}"/>
              </a:ext>
            </a:extLst>
          </p:cNvPr>
          <p:cNvSpPr txBox="1">
            <a:spLocks noGrp="1"/>
          </p:cNvSpPr>
          <p:nvPr>
            <p:ph type="ctrTitle"/>
          </p:nvPr>
        </p:nvSpPr>
        <p:spPr>
          <a:xfrm>
            <a:off x="251274" y="383379"/>
            <a:ext cx="7772400" cy="735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IN" dirty="0"/>
              <a:t>Innovation Diagram</a:t>
            </a:r>
            <a:endParaRPr dirty="0"/>
          </a:p>
        </p:txBody>
      </p:sp>
      <p:pic>
        <p:nvPicPr>
          <p:cNvPr id="6" name="Picture 5">
            <a:extLst>
              <a:ext uri="{FF2B5EF4-FFF2-40B4-BE49-F238E27FC236}">
                <a16:creationId xmlns:a16="http://schemas.microsoft.com/office/drawing/2014/main" id="{5F758721-BD98-26CF-C7F4-7A04BF3F56C8}"/>
              </a:ext>
            </a:extLst>
          </p:cNvPr>
          <p:cNvPicPr>
            <a:picLocks noChangeAspect="1"/>
          </p:cNvPicPr>
          <p:nvPr/>
        </p:nvPicPr>
        <p:blipFill>
          <a:blip r:embed="rId3"/>
          <a:stretch>
            <a:fillRect/>
          </a:stretch>
        </p:blipFill>
        <p:spPr>
          <a:xfrm>
            <a:off x="526577" y="1488075"/>
            <a:ext cx="4175281" cy="2794637"/>
          </a:xfrm>
          <a:prstGeom prst="rect">
            <a:avLst/>
          </a:prstGeom>
        </p:spPr>
      </p:pic>
      <p:grpSp>
        <p:nvGrpSpPr>
          <p:cNvPr id="12" name="Group 11">
            <a:extLst>
              <a:ext uri="{FF2B5EF4-FFF2-40B4-BE49-F238E27FC236}">
                <a16:creationId xmlns:a16="http://schemas.microsoft.com/office/drawing/2014/main" id="{CA150BB0-4EC6-2BA2-2C0B-432A493C708C}"/>
              </a:ext>
            </a:extLst>
          </p:cNvPr>
          <p:cNvGrpSpPr/>
          <p:nvPr/>
        </p:nvGrpSpPr>
        <p:grpSpPr>
          <a:xfrm>
            <a:off x="4572000" y="4885120"/>
            <a:ext cx="1612490" cy="682232"/>
            <a:chOff x="3982065" y="4660490"/>
            <a:chExt cx="1612490" cy="682232"/>
          </a:xfrm>
        </p:grpSpPr>
        <p:sp>
          <p:nvSpPr>
            <p:cNvPr id="11" name="Rectangle: Rounded Corners 10">
              <a:extLst>
                <a:ext uri="{FF2B5EF4-FFF2-40B4-BE49-F238E27FC236}">
                  <a16:creationId xmlns:a16="http://schemas.microsoft.com/office/drawing/2014/main" id="{41C9955F-EE43-BD51-5025-A193699A2123}"/>
                </a:ext>
              </a:extLst>
            </p:cNvPr>
            <p:cNvSpPr/>
            <p:nvPr/>
          </p:nvSpPr>
          <p:spPr>
            <a:xfrm>
              <a:off x="3982065" y="4660490"/>
              <a:ext cx="1612490" cy="6822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External Tools</a:t>
              </a:r>
            </a:p>
          </p:txBody>
        </p:sp>
        <p:pic>
          <p:nvPicPr>
            <p:cNvPr id="10" name="Picture 9">
              <a:extLst>
                <a:ext uri="{FF2B5EF4-FFF2-40B4-BE49-F238E27FC236}">
                  <a16:creationId xmlns:a16="http://schemas.microsoft.com/office/drawing/2014/main" id="{ABBE9919-B651-F1C5-35CC-72755F4ECE10}"/>
                </a:ext>
              </a:extLst>
            </p:cNvPr>
            <p:cNvPicPr>
              <a:picLocks noChangeAspect="1"/>
            </p:cNvPicPr>
            <p:nvPr/>
          </p:nvPicPr>
          <p:blipFill>
            <a:blip r:embed="rId4"/>
            <a:stretch>
              <a:fillRect/>
            </a:stretch>
          </p:blipFill>
          <p:spPr>
            <a:xfrm>
              <a:off x="5217124" y="4812890"/>
              <a:ext cx="377431" cy="377431"/>
            </a:xfrm>
            <a:prstGeom prst="rect">
              <a:avLst/>
            </a:prstGeom>
          </p:spPr>
        </p:pic>
      </p:grpSp>
      <p:cxnSp>
        <p:nvCxnSpPr>
          <p:cNvPr id="19" name="Straight Arrow Connector 18">
            <a:extLst>
              <a:ext uri="{FF2B5EF4-FFF2-40B4-BE49-F238E27FC236}">
                <a16:creationId xmlns:a16="http://schemas.microsoft.com/office/drawing/2014/main" id="{68F52ACF-5300-BB11-64FD-35C5865CCC48}"/>
              </a:ext>
            </a:extLst>
          </p:cNvPr>
          <p:cNvCxnSpPr>
            <a:cxnSpLocks/>
          </p:cNvCxnSpPr>
          <p:nvPr/>
        </p:nvCxnSpPr>
        <p:spPr>
          <a:xfrm flipH="1" flipV="1">
            <a:off x="3825240" y="1905000"/>
            <a:ext cx="2324100" cy="9372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D770735-060B-D1D0-F596-A7345EB14D3C}"/>
              </a:ext>
            </a:extLst>
          </p:cNvPr>
          <p:cNvCxnSpPr>
            <a:stCxn id="11" idx="0"/>
          </p:cNvCxnSpPr>
          <p:nvPr/>
        </p:nvCxnSpPr>
        <p:spPr>
          <a:xfrm flipV="1">
            <a:off x="5378245" y="2842260"/>
            <a:ext cx="771095" cy="2042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FF723696-1521-52FB-DF5B-E246ADB9C78C}"/>
              </a:ext>
            </a:extLst>
          </p:cNvPr>
          <p:cNvSpPr/>
          <p:nvPr/>
        </p:nvSpPr>
        <p:spPr>
          <a:xfrm>
            <a:off x="1873991" y="5719752"/>
            <a:ext cx="5655733" cy="6024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Calibri" pitchFamily="34" charset="0"/>
                <a:ea typeface="Calibri" pitchFamily="34" charset="-122"/>
                <a:cs typeface="Calibri" pitchFamily="34" charset="-120"/>
              </a:rPr>
              <a:t>SQL_GENERATE → SQL_QUERY → TOOL_REVIEW → RESULT_EXTRACT</a:t>
            </a:r>
            <a:endParaRPr lang="en-US" b="1" dirty="0">
              <a:solidFill>
                <a:schemeClr val="bg1"/>
              </a:solidFill>
            </a:endParaRPr>
          </a:p>
        </p:txBody>
      </p:sp>
    </p:spTree>
    <p:extLst>
      <p:ext uri="{BB962C8B-B14F-4D97-AF65-F5344CB8AC3E}">
        <p14:creationId xmlns:p14="http://schemas.microsoft.com/office/powerpoint/2010/main" val="379129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6696C036-8365-84C1-5C59-3E47A49D448C}"/>
            </a:ext>
          </a:extLst>
        </p:cNvPr>
        <p:cNvGrpSpPr/>
        <p:nvPr/>
      </p:nvGrpSpPr>
      <p:grpSpPr>
        <a:xfrm>
          <a:off x="0" y="0"/>
          <a:ext cx="0" cy="0"/>
          <a:chOff x="0" y="0"/>
          <a:chExt cx="0" cy="0"/>
        </a:xfrm>
      </p:grpSpPr>
      <p:sp>
        <p:nvSpPr>
          <p:cNvPr id="129" name="Google Shape;129;p7">
            <a:extLst>
              <a:ext uri="{FF2B5EF4-FFF2-40B4-BE49-F238E27FC236}">
                <a16:creationId xmlns:a16="http://schemas.microsoft.com/office/drawing/2014/main" id="{627DD00A-5846-C5DC-3865-CD54E92A30C1}"/>
              </a:ext>
            </a:extLst>
          </p:cNvPr>
          <p:cNvSpPr txBox="1">
            <a:spLocks noGrp="1"/>
          </p:cNvSpPr>
          <p:nvPr>
            <p:ph type="title"/>
          </p:nvPr>
        </p:nvSpPr>
        <p:spPr>
          <a:xfrm>
            <a:off x="745066" y="880535"/>
            <a:ext cx="7653868" cy="872066"/>
          </a:xfrm>
          <a:prstGeom prst="rect">
            <a:avLst/>
          </a:prstGeom>
          <a:noFill/>
          <a:ln>
            <a:noFill/>
          </a:ln>
        </p:spPr>
        <p:txBody>
          <a:bodyPr spcFirstLastPara="1" wrap="square" lIns="91425" tIns="45700" rIns="91425" bIns="45700" anchor="ctr" anchorCtr="0">
            <a:noAutofit/>
          </a:bodyPr>
          <a:lstStyle/>
          <a:p>
            <a:pPr algn="l"/>
            <a:r>
              <a:rPr lang="en-US" sz="1400" b="1" dirty="0"/>
              <a:t>2.  GAIA Benchmark — Web Search Tool</a:t>
            </a:r>
            <a:br>
              <a:rPr lang="en-US" sz="1400" dirty="0"/>
            </a:br>
            <a:r>
              <a:rPr lang="en-US" sz="1400" i="1" dirty="0"/>
              <a:t>GAIA tests real-world question answering requiring current factual knowledge (exchange rates, recent events, live data). </a:t>
            </a:r>
            <a:r>
              <a:rPr lang="en-US" sz="1400" i="1" dirty="0" err="1"/>
              <a:t>DyFlow</a:t>
            </a:r>
            <a:r>
              <a:rPr lang="en-US" sz="1400" i="1" dirty="0"/>
              <a:t> must rely on parametric memory; </a:t>
            </a:r>
            <a:r>
              <a:rPr lang="en-US" sz="1400" i="1" dirty="0" err="1"/>
              <a:t>DyFlow</a:t>
            </a:r>
            <a:r>
              <a:rPr lang="en-US" sz="1400" i="1" dirty="0"/>
              <a:t>-T fetches real content via </a:t>
            </a:r>
            <a:r>
              <a:rPr lang="en-US" sz="1400" i="1" dirty="0" err="1"/>
              <a:t>SerpAPI</a:t>
            </a:r>
            <a:r>
              <a:rPr lang="en-US" sz="1400" i="1" dirty="0"/>
              <a:t> before answering.</a:t>
            </a:r>
            <a:endParaRPr lang="en-US" sz="1400" dirty="0"/>
          </a:p>
        </p:txBody>
      </p:sp>
      <p:graphicFrame>
        <p:nvGraphicFramePr>
          <p:cNvPr id="2" name="Table 1">
            <a:extLst>
              <a:ext uri="{FF2B5EF4-FFF2-40B4-BE49-F238E27FC236}">
                <a16:creationId xmlns:a16="http://schemas.microsoft.com/office/drawing/2014/main" id="{C38B423E-1E26-64E2-9670-1A28C295FF92}"/>
              </a:ext>
            </a:extLst>
          </p:cNvPr>
          <p:cNvGraphicFramePr>
            <a:graphicFrameLocks noGrp="1"/>
          </p:cNvGraphicFramePr>
          <p:nvPr>
            <p:extLst>
              <p:ext uri="{D42A27DB-BD31-4B8C-83A1-F6EECF244321}">
                <p14:modId xmlns:p14="http://schemas.microsoft.com/office/powerpoint/2010/main" val="3494099960"/>
              </p:ext>
            </p:extLst>
          </p:nvPr>
        </p:nvGraphicFramePr>
        <p:xfrm>
          <a:off x="639188" y="1887802"/>
          <a:ext cx="7653868" cy="2688190"/>
        </p:xfrm>
        <a:graphic>
          <a:graphicData uri="http://schemas.openxmlformats.org/drawingml/2006/table">
            <a:tbl>
              <a:tblPr firstRow="1" firstCol="1" bandRow="1">
                <a:tableStyleId>{7E9639D4-E3E2-4D34-9284-5A2195B3D0D7}</a:tableStyleId>
              </a:tblPr>
              <a:tblGrid>
                <a:gridCol w="1978883">
                  <a:extLst>
                    <a:ext uri="{9D8B030D-6E8A-4147-A177-3AD203B41FA5}">
                      <a16:colId xmlns:a16="http://schemas.microsoft.com/office/drawing/2014/main" val="2759715857"/>
                    </a:ext>
                  </a:extLst>
                </a:gridCol>
                <a:gridCol w="1158643">
                  <a:extLst>
                    <a:ext uri="{9D8B030D-6E8A-4147-A177-3AD203B41FA5}">
                      <a16:colId xmlns:a16="http://schemas.microsoft.com/office/drawing/2014/main" val="80807592"/>
                    </a:ext>
                  </a:extLst>
                </a:gridCol>
                <a:gridCol w="1197408">
                  <a:extLst>
                    <a:ext uri="{9D8B030D-6E8A-4147-A177-3AD203B41FA5}">
                      <a16:colId xmlns:a16="http://schemas.microsoft.com/office/drawing/2014/main" val="3207699814"/>
                    </a:ext>
                  </a:extLst>
                </a:gridCol>
                <a:gridCol w="1118669">
                  <a:extLst>
                    <a:ext uri="{9D8B030D-6E8A-4147-A177-3AD203B41FA5}">
                      <a16:colId xmlns:a16="http://schemas.microsoft.com/office/drawing/2014/main" val="6026286"/>
                    </a:ext>
                  </a:extLst>
                </a:gridCol>
                <a:gridCol w="2200265">
                  <a:extLst>
                    <a:ext uri="{9D8B030D-6E8A-4147-A177-3AD203B41FA5}">
                      <a16:colId xmlns:a16="http://schemas.microsoft.com/office/drawing/2014/main" val="835285865"/>
                    </a:ext>
                  </a:extLst>
                </a:gridCol>
              </a:tblGrid>
              <a:tr h="407048">
                <a:tc>
                  <a:txBody>
                    <a:bodyPr/>
                    <a:lstStyle/>
                    <a:p>
                      <a:pPr marL="0" marR="0" algn="ctr">
                        <a:buNone/>
                      </a:pPr>
                      <a:r>
                        <a:rPr lang="en-US" sz="1600" b="1" dirty="0">
                          <a:solidFill>
                            <a:schemeClr val="bg1"/>
                          </a:solidFill>
                          <a:effectLst/>
                        </a:rPr>
                        <a:t>Difficulty</a:t>
                      </a:r>
                      <a:endParaRPr lang="en-US" sz="1600" dirty="0">
                        <a:solidFill>
                          <a:schemeClr val="bg1"/>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b="1" dirty="0" err="1">
                          <a:solidFill>
                            <a:schemeClr val="bg1"/>
                          </a:solidFill>
                          <a:effectLst/>
                        </a:rPr>
                        <a:t>DyFlow</a:t>
                      </a:r>
                      <a:endParaRPr lang="en-US" sz="1600" dirty="0">
                        <a:solidFill>
                          <a:schemeClr val="bg1"/>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b="1" dirty="0" err="1">
                          <a:solidFill>
                            <a:schemeClr val="bg1"/>
                          </a:solidFill>
                          <a:effectLst/>
                        </a:rPr>
                        <a:t>DyFlow</a:t>
                      </a:r>
                      <a:r>
                        <a:rPr lang="en-US" sz="1600" b="1" dirty="0">
                          <a:solidFill>
                            <a:schemeClr val="bg1"/>
                          </a:solidFill>
                          <a:effectLst/>
                        </a:rPr>
                        <a:t>-T</a:t>
                      </a:r>
                      <a:endParaRPr lang="en-US" sz="1600" dirty="0">
                        <a:solidFill>
                          <a:schemeClr val="bg1"/>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b="1" dirty="0">
                          <a:solidFill>
                            <a:schemeClr val="bg1"/>
                          </a:solidFill>
                          <a:effectLst/>
                        </a:rPr>
                        <a:t>Gain</a:t>
                      </a:r>
                      <a:endParaRPr lang="en-US" sz="1600" dirty="0">
                        <a:solidFill>
                          <a:schemeClr val="bg1"/>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b="1" dirty="0">
                          <a:solidFill>
                            <a:schemeClr val="bg1"/>
                          </a:solidFill>
                          <a:effectLst/>
                        </a:rPr>
                        <a:t>Note</a:t>
                      </a:r>
                      <a:endParaRPr lang="en-US" sz="1600" dirty="0">
                        <a:solidFill>
                          <a:schemeClr val="bg1"/>
                        </a:solidFill>
                        <a:effectLst/>
                        <a:latin typeface="Calibri" panose="020F0502020204030204" pitchFamily="34" charset="0"/>
                        <a:ea typeface="Calibri" panose="020F0502020204030204" pitchFamily="34" charset="0"/>
                      </a:endParaRPr>
                    </a:p>
                  </a:txBody>
                  <a:tcPr marL="88900" marR="88900" marT="50800" marB="50800"/>
                </a:tc>
                <a:extLst>
                  <a:ext uri="{0D108BD9-81ED-4DB2-BD59-A6C34878D82A}">
                    <a16:rowId xmlns:a16="http://schemas.microsoft.com/office/drawing/2014/main" val="3120252745"/>
                  </a:ext>
                </a:extLst>
              </a:tr>
              <a:tr h="614902">
                <a:tc>
                  <a:txBody>
                    <a:bodyPr/>
                    <a:lstStyle/>
                    <a:p>
                      <a:pPr marL="0" marR="0">
                        <a:buNone/>
                      </a:pPr>
                      <a:r>
                        <a:rPr lang="en-US" sz="1600" b="1" dirty="0">
                          <a:solidFill>
                            <a:schemeClr val="tx1"/>
                          </a:solidFill>
                          <a:effectLst/>
                        </a:rPr>
                        <a:t>Level 1 — Simple</a:t>
                      </a:r>
                      <a:endParaRPr lang="en-US" sz="1600" dirty="0">
                        <a:solidFill>
                          <a:schemeClr val="tx1"/>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dirty="0">
                          <a:solidFill>
                            <a:schemeClr val="tx1"/>
                          </a:solidFill>
                          <a:effectLst/>
                        </a:rPr>
                        <a:t>71%</a:t>
                      </a:r>
                      <a:endParaRPr lang="en-US" sz="1600" dirty="0">
                        <a:solidFill>
                          <a:schemeClr val="tx1"/>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a:solidFill>
                            <a:schemeClr val="tx1"/>
                          </a:solidFill>
                          <a:effectLst/>
                        </a:rPr>
                        <a:t>71%</a:t>
                      </a:r>
                      <a:endParaRPr lang="en-US" sz="1600">
                        <a:solidFill>
                          <a:schemeClr val="tx1"/>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b="1" dirty="0">
                          <a:solidFill>
                            <a:schemeClr val="tx1"/>
                          </a:solidFill>
                          <a:effectLst/>
                        </a:rPr>
                        <a:t>+0%</a:t>
                      </a:r>
                      <a:endParaRPr lang="en-US" sz="1600" dirty="0">
                        <a:solidFill>
                          <a:schemeClr val="tx1"/>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a:solidFill>
                            <a:schemeClr val="tx1"/>
                          </a:solidFill>
                          <a:effectLst/>
                        </a:rPr>
                        <a:t>Single-hop current facts (rates, population)</a:t>
                      </a:r>
                      <a:endParaRPr lang="en-US" sz="1600">
                        <a:solidFill>
                          <a:schemeClr val="tx1"/>
                        </a:solidFill>
                        <a:effectLst/>
                        <a:latin typeface="Calibri" panose="020F0502020204030204" pitchFamily="34" charset="0"/>
                        <a:ea typeface="Calibri" panose="020F0502020204030204" pitchFamily="34" charset="0"/>
                      </a:endParaRPr>
                    </a:p>
                  </a:txBody>
                  <a:tcPr marL="88900" marR="88900" marT="50800" marB="50800"/>
                </a:tc>
                <a:extLst>
                  <a:ext uri="{0D108BD9-81ED-4DB2-BD59-A6C34878D82A}">
                    <a16:rowId xmlns:a16="http://schemas.microsoft.com/office/drawing/2014/main" val="2091342860"/>
                  </a:ext>
                </a:extLst>
              </a:tr>
              <a:tr h="614902">
                <a:tc>
                  <a:txBody>
                    <a:bodyPr/>
                    <a:lstStyle/>
                    <a:p>
                      <a:pPr marL="0" marR="0">
                        <a:buNone/>
                      </a:pPr>
                      <a:r>
                        <a:rPr lang="en-US" sz="1600" b="1">
                          <a:solidFill>
                            <a:schemeClr val="tx1"/>
                          </a:solidFill>
                          <a:effectLst/>
                        </a:rPr>
                        <a:t>Level 2 — Multi-step</a:t>
                      </a:r>
                      <a:endParaRPr lang="en-US" sz="1600">
                        <a:solidFill>
                          <a:schemeClr val="tx1"/>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dirty="0">
                          <a:solidFill>
                            <a:schemeClr val="tx1"/>
                          </a:solidFill>
                          <a:effectLst/>
                        </a:rPr>
                        <a:t>30%</a:t>
                      </a:r>
                      <a:endParaRPr lang="en-US" sz="1600" dirty="0">
                        <a:solidFill>
                          <a:schemeClr val="tx1"/>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dirty="0">
                          <a:solidFill>
                            <a:schemeClr val="tx1"/>
                          </a:solidFill>
                          <a:effectLst/>
                        </a:rPr>
                        <a:t>38%</a:t>
                      </a:r>
                      <a:endParaRPr lang="en-US" sz="1600" dirty="0">
                        <a:solidFill>
                          <a:schemeClr val="tx1"/>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b="1" dirty="0">
                          <a:solidFill>
                            <a:srgbClr val="92D050"/>
                          </a:solidFill>
                          <a:effectLst/>
                        </a:rPr>
                        <a:t>+8%</a:t>
                      </a:r>
                      <a:endParaRPr lang="en-US" sz="1600" dirty="0">
                        <a:solidFill>
                          <a:srgbClr val="92D050"/>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dirty="0">
                          <a:solidFill>
                            <a:schemeClr val="tx1"/>
                          </a:solidFill>
                          <a:effectLst/>
                        </a:rPr>
                        <a:t>Chained retrieval over 2+ sources</a:t>
                      </a:r>
                      <a:endParaRPr lang="en-US" sz="1600" dirty="0">
                        <a:solidFill>
                          <a:schemeClr val="tx1"/>
                        </a:solidFill>
                        <a:effectLst/>
                        <a:latin typeface="Calibri" panose="020F0502020204030204" pitchFamily="34" charset="0"/>
                        <a:ea typeface="Calibri" panose="020F0502020204030204" pitchFamily="34" charset="0"/>
                      </a:endParaRPr>
                    </a:p>
                  </a:txBody>
                  <a:tcPr marL="88900" marR="88900" marT="50800" marB="50800"/>
                </a:tc>
                <a:extLst>
                  <a:ext uri="{0D108BD9-81ED-4DB2-BD59-A6C34878D82A}">
                    <a16:rowId xmlns:a16="http://schemas.microsoft.com/office/drawing/2014/main" val="3930902015"/>
                  </a:ext>
                </a:extLst>
              </a:tr>
              <a:tr h="614902">
                <a:tc>
                  <a:txBody>
                    <a:bodyPr/>
                    <a:lstStyle/>
                    <a:p>
                      <a:pPr marL="0" marR="0">
                        <a:buNone/>
                      </a:pPr>
                      <a:r>
                        <a:rPr lang="en-US" sz="1600" b="1" dirty="0">
                          <a:solidFill>
                            <a:schemeClr val="tx1"/>
                          </a:solidFill>
                          <a:effectLst/>
                        </a:rPr>
                        <a:t>Level 3 — Complex</a:t>
                      </a:r>
                      <a:endParaRPr lang="en-US" sz="1600" dirty="0">
                        <a:solidFill>
                          <a:schemeClr val="tx1"/>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dirty="0">
                          <a:solidFill>
                            <a:schemeClr val="tx1"/>
                          </a:solidFill>
                          <a:effectLst/>
                        </a:rPr>
                        <a:t>4%</a:t>
                      </a:r>
                      <a:endParaRPr lang="en-US" sz="1600" dirty="0">
                        <a:solidFill>
                          <a:schemeClr val="tx1"/>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a:solidFill>
                            <a:schemeClr val="tx1"/>
                          </a:solidFill>
                          <a:effectLst/>
                        </a:rPr>
                        <a:t>18%</a:t>
                      </a:r>
                      <a:endParaRPr lang="en-US" sz="1600">
                        <a:solidFill>
                          <a:schemeClr val="tx1"/>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b="1" dirty="0">
                          <a:solidFill>
                            <a:srgbClr val="92D050"/>
                          </a:solidFill>
                          <a:effectLst/>
                        </a:rPr>
                        <a:t>+14%</a:t>
                      </a:r>
                      <a:endParaRPr lang="en-US" sz="1600" dirty="0">
                        <a:solidFill>
                          <a:srgbClr val="92D050"/>
                        </a:solidFill>
                        <a:effectLst/>
                        <a:latin typeface="Calibri" panose="020F0502020204030204" pitchFamily="34" charset="0"/>
                        <a:ea typeface="Calibri" panose="020F0502020204030204" pitchFamily="34" charset="0"/>
                      </a:endParaRPr>
                    </a:p>
                  </a:txBody>
                  <a:tcPr marL="88900" marR="88900" marT="50800" marB="50800"/>
                </a:tc>
                <a:tc>
                  <a:txBody>
                    <a:bodyPr/>
                    <a:lstStyle/>
                    <a:p>
                      <a:pPr marL="0" marR="0" algn="ctr">
                        <a:buNone/>
                      </a:pPr>
                      <a:r>
                        <a:rPr lang="en-US" sz="1600" dirty="0">
                          <a:solidFill>
                            <a:schemeClr val="tx1"/>
                          </a:solidFill>
                          <a:effectLst/>
                        </a:rPr>
                        <a:t>Multi-source synthesis; hardest level</a:t>
                      </a:r>
                      <a:endParaRPr lang="en-US" sz="1600" dirty="0">
                        <a:solidFill>
                          <a:schemeClr val="tx1"/>
                        </a:solidFill>
                        <a:effectLst/>
                        <a:latin typeface="Calibri" panose="020F0502020204030204" pitchFamily="34" charset="0"/>
                        <a:ea typeface="Calibri" panose="020F0502020204030204" pitchFamily="34" charset="0"/>
                      </a:endParaRPr>
                    </a:p>
                  </a:txBody>
                  <a:tcPr marL="88900" marR="88900" marT="50800" marB="50800"/>
                </a:tc>
                <a:extLst>
                  <a:ext uri="{0D108BD9-81ED-4DB2-BD59-A6C34878D82A}">
                    <a16:rowId xmlns:a16="http://schemas.microsoft.com/office/drawing/2014/main" val="1525205088"/>
                  </a:ext>
                </a:extLst>
              </a:tr>
            </a:tbl>
          </a:graphicData>
        </a:graphic>
      </p:graphicFrame>
      <p:sp>
        <p:nvSpPr>
          <p:cNvPr id="7" name="Google Shape;129;p7">
            <a:extLst>
              <a:ext uri="{FF2B5EF4-FFF2-40B4-BE49-F238E27FC236}">
                <a16:creationId xmlns:a16="http://schemas.microsoft.com/office/drawing/2014/main" id="{9FDB908D-7806-DF93-238B-CF00E672C095}"/>
              </a:ext>
            </a:extLst>
          </p:cNvPr>
          <p:cNvSpPr txBox="1">
            <a:spLocks/>
          </p:cNvSpPr>
          <p:nvPr/>
        </p:nvSpPr>
        <p:spPr>
          <a:xfrm>
            <a:off x="1176866" y="214290"/>
            <a:ext cx="6324091" cy="581577"/>
          </a:xfrm>
          <a:prstGeom prst="rect">
            <a:avLst/>
          </a:prstGeom>
          <a:noFill/>
          <a:ln>
            <a:noFill/>
          </a:ln>
        </p:spPr>
        <p:txBody>
          <a:bodyPr spcFirstLastPara="1" wrap="square" lIns="91425" tIns="45700" rIns="91425" bIns="45700" anchor="ctr" anchorCtr="0">
            <a:normAutofit fontScale="900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GB"/>
              <a:t>Comparison Results</a:t>
            </a:r>
            <a:endParaRPr lang="en-GB" dirty="0"/>
          </a:p>
        </p:txBody>
      </p:sp>
    </p:spTree>
    <p:extLst>
      <p:ext uri="{BB962C8B-B14F-4D97-AF65-F5344CB8AC3E}">
        <p14:creationId xmlns:p14="http://schemas.microsoft.com/office/powerpoint/2010/main" val="3288976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3830BF05-5585-A3CE-F3D4-3AF2AAE077DF}"/>
            </a:ext>
          </a:extLst>
        </p:cNvPr>
        <p:cNvGrpSpPr/>
        <p:nvPr/>
      </p:nvGrpSpPr>
      <p:grpSpPr>
        <a:xfrm>
          <a:off x="0" y="0"/>
          <a:ext cx="0" cy="0"/>
          <a:chOff x="0" y="0"/>
          <a:chExt cx="0" cy="0"/>
        </a:xfrm>
      </p:grpSpPr>
      <p:sp>
        <p:nvSpPr>
          <p:cNvPr id="129" name="Google Shape;129;p7">
            <a:extLst>
              <a:ext uri="{FF2B5EF4-FFF2-40B4-BE49-F238E27FC236}">
                <a16:creationId xmlns:a16="http://schemas.microsoft.com/office/drawing/2014/main" id="{1AC89B90-BA3A-F3B6-76F7-5F9FD7513718}"/>
              </a:ext>
            </a:extLst>
          </p:cNvPr>
          <p:cNvSpPr txBox="1">
            <a:spLocks noGrp="1"/>
          </p:cNvSpPr>
          <p:nvPr>
            <p:ph type="title"/>
          </p:nvPr>
        </p:nvSpPr>
        <p:spPr>
          <a:xfrm>
            <a:off x="745066" y="880535"/>
            <a:ext cx="7653868" cy="872066"/>
          </a:xfrm>
          <a:prstGeom prst="rect">
            <a:avLst/>
          </a:prstGeom>
          <a:noFill/>
          <a:ln>
            <a:noFill/>
          </a:ln>
        </p:spPr>
        <p:txBody>
          <a:bodyPr spcFirstLastPara="1" wrap="square" lIns="91425" tIns="45700" rIns="91425" bIns="45700" anchor="ctr" anchorCtr="0">
            <a:noAutofit/>
          </a:bodyPr>
          <a:lstStyle/>
          <a:p>
            <a:pPr algn="l"/>
            <a:r>
              <a:rPr lang="en-US" sz="1400" b="1" dirty="0"/>
              <a:t>2.  GAIA Benchmark — Web Search Tool</a:t>
            </a:r>
            <a:br>
              <a:rPr lang="en-US" sz="1400" dirty="0"/>
            </a:br>
            <a:r>
              <a:rPr lang="en-US" sz="1400" i="1" dirty="0"/>
              <a:t>GAIA tests real-world question answering requiring current factual knowledge (exchange rates, recent events, live data). </a:t>
            </a:r>
            <a:r>
              <a:rPr lang="en-US" sz="1400" i="1" dirty="0" err="1"/>
              <a:t>DyFlow</a:t>
            </a:r>
            <a:r>
              <a:rPr lang="en-US" sz="1400" i="1" dirty="0"/>
              <a:t> must rely on parametric memory; </a:t>
            </a:r>
            <a:r>
              <a:rPr lang="en-US" sz="1400" i="1" dirty="0" err="1"/>
              <a:t>DyFlow</a:t>
            </a:r>
            <a:r>
              <a:rPr lang="en-US" sz="1400" i="1" dirty="0"/>
              <a:t>-T fetches real content via </a:t>
            </a:r>
            <a:r>
              <a:rPr lang="en-US" sz="1400" i="1" dirty="0" err="1"/>
              <a:t>SerpAPI</a:t>
            </a:r>
            <a:r>
              <a:rPr lang="en-US" sz="1400" i="1" dirty="0"/>
              <a:t> before answering.</a:t>
            </a:r>
            <a:endParaRPr lang="en-US" sz="1400" dirty="0"/>
          </a:p>
        </p:txBody>
      </p:sp>
      <p:sp>
        <p:nvSpPr>
          <p:cNvPr id="7" name="Google Shape;129;p7">
            <a:extLst>
              <a:ext uri="{FF2B5EF4-FFF2-40B4-BE49-F238E27FC236}">
                <a16:creationId xmlns:a16="http://schemas.microsoft.com/office/drawing/2014/main" id="{DDAFEAA6-40D4-D406-C9EF-2C030946D99D}"/>
              </a:ext>
            </a:extLst>
          </p:cNvPr>
          <p:cNvSpPr txBox="1">
            <a:spLocks/>
          </p:cNvSpPr>
          <p:nvPr/>
        </p:nvSpPr>
        <p:spPr>
          <a:xfrm>
            <a:off x="1176866" y="214290"/>
            <a:ext cx="6324091" cy="581577"/>
          </a:xfrm>
          <a:prstGeom prst="rect">
            <a:avLst/>
          </a:prstGeom>
          <a:noFill/>
          <a:ln>
            <a:noFill/>
          </a:ln>
        </p:spPr>
        <p:txBody>
          <a:bodyPr spcFirstLastPara="1" wrap="square" lIns="91425" tIns="45700" rIns="91425" bIns="45700" anchor="ctr" anchorCtr="0">
            <a:normAutofit fontScale="900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GB"/>
              <a:t>Comparison Results</a:t>
            </a:r>
            <a:endParaRPr lang="en-GB" dirty="0"/>
          </a:p>
        </p:txBody>
      </p:sp>
      <p:graphicFrame>
        <p:nvGraphicFramePr>
          <p:cNvPr id="5" name="Table 4">
            <a:extLst>
              <a:ext uri="{FF2B5EF4-FFF2-40B4-BE49-F238E27FC236}">
                <a16:creationId xmlns:a16="http://schemas.microsoft.com/office/drawing/2014/main" id="{C7B575BC-534F-8078-813D-46C00ED88A98}"/>
              </a:ext>
            </a:extLst>
          </p:cNvPr>
          <p:cNvGraphicFramePr>
            <a:graphicFrameLocks noGrp="1"/>
          </p:cNvGraphicFramePr>
          <p:nvPr>
            <p:extLst>
              <p:ext uri="{D42A27DB-BD31-4B8C-83A1-F6EECF244321}">
                <p14:modId xmlns:p14="http://schemas.microsoft.com/office/powerpoint/2010/main" val="3936194622"/>
              </p:ext>
            </p:extLst>
          </p:nvPr>
        </p:nvGraphicFramePr>
        <p:xfrm>
          <a:off x="457200" y="2040603"/>
          <a:ext cx="8229600" cy="3301416"/>
        </p:xfrm>
        <a:graphic>
          <a:graphicData uri="http://schemas.openxmlformats.org/drawingml/2006/table">
            <a:tbl>
              <a:tblPr firstRow="1" firstCol="1" bandRow="1"/>
              <a:tblGrid>
                <a:gridCol w="1624848">
                  <a:extLst>
                    <a:ext uri="{9D8B030D-6E8A-4147-A177-3AD203B41FA5}">
                      <a16:colId xmlns:a16="http://schemas.microsoft.com/office/drawing/2014/main" val="3242358010"/>
                    </a:ext>
                  </a:extLst>
                </a:gridCol>
                <a:gridCol w="1284074">
                  <a:extLst>
                    <a:ext uri="{9D8B030D-6E8A-4147-A177-3AD203B41FA5}">
                      <a16:colId xmlns:a16="http://schemas.microsoft.com/office/drawing/2014/main" val="676812315"/>
                    </a:ext>
                  </a:extLst>
                </a:gridCol>
                <a:gridCol w="1068416">
                  <a:extLst>
                    <a:ext uri="{9D8B030D-6E8A-4147-A177-3AD203B41FA5}">
                      <a16:colId xmlns:a16="http://schemas.microsoft.com/office/drawing/2014/main" val="905107922"/>
                    </a:ext>
                  </a:extLst>
                </a:gridCol>
                <a:gridCol w="1651188">
                  <a:extLst>
                    <a:ext uri="{9D8B030D-6E8A-4147-A177-3AD203B41FA5}">
                      <a16:colId xmlns:a16="http://schemas.microsoft.com/office/drawing/2014/main" val="431051190"/>
                    </a:ext>
                  </a:extLst>
                </a:gridCol>
                <a:gridCol w="1300537">
                  <a:extLst>
                    <a:ext uri="{9D8B030D-6E8A-4147-A177-3AD203B41FA5}">
                      <a16:colId xmlns:a16="http://schemas.microsoft.com/office/drawing/2014/main" val="2031077473"/>
                    </a:ext>
                  </a:extLst>
                </a:gridCol>
                <a:gridCol w="1300537">
                  <a:extLst>
                    <a:ext uri="{9D8B030D-6E8A-4147-A177-3AD203B41FA5}">
                      <a16:colId xmlns:a16="http://schemas.microsoft.com/office/drawing/2014/main" val="508068142"/>
                    </a:ext>
                  </a:extLst>
                </a:gridCol>
              </a:tblGrid>
              <a:tr h="366824">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Match Type</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DyFlow</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DF %</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DyFlow-T</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DFT %</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Δ</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extLst>
                  <a:ext uri="{0D108BD9-81ED-4DB2-BD59-A6C34878D82A}">
                    <a16:rowId xmlns:a16="http://schemas.microsoft.com/office/drawing/2014/main" val="2539250533"/>
                  </a:ext>
                </a:extLst>
              </a:tr>
              <a:tr h="366824">
                <a:tc>
                  <a:txBody>
                    <a:bodyPr/>
                    <a:lstStyle/>
                    <a:p>
                      <a:pPr marL="0" marR="0">
                        <a:buNone/>
                      </a:pPr>
                      <a:r>
                        <a:rPr lang="en-US" sz="900" b="1">
                          <a:solidFill>
                            <a:srgbClr val="000000"/>
                          </a:solidFill>
                          <a:effectLst/>
                          <a:latin typeface="Times New Roman" panose="02020603050405020304" pitchFamily="18" charset="0"/>
                          <a:ea typeface="Times New Roman" panose="02020603050405020304" pitchFamily="18" charset="0"/>
                        </a:rPr>
                        <a:t>Exact</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0</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0.0%</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7</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6.8%</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+6.8%</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66400498"/>
                  </a:ext>
                </a:extLst>
              </a:tr>
              <a:tr h="366824">
                <a:tc>
                  <a:txBody>
                    <a:bodyPr/>
                    <a:lstStyle/>
                    <a:p>
                      <a:pPr marL="0" marR="0">
                        <a:buNone/>
                      </a:pPr>
                      <a:r>
                        <a:rPr lang="en-US" sz="900" b="1">
                          <a:solidFill>
                            <a:srgbClr val="000000"/>
                          </a:solidFill>
                          <a:effectLst/>
                          <a:latin typeface="Times New Roman" panose="02020603050405020304" pitchFamily="18" charset="0"/>
                          <a:ea typeface="Times New Roman" panose="02020603050405020304" pitchFamily="18" charset="0"/>
                        </a:rPr>
                        <a:t>Contains</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1</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1.0%</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8</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7.8%</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+6.8%</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33669101"/>
                  </a:ext>
                </a:extLst>
              </a:tr>
              <a:tr h="366824">
                <a:tc>
                  <a:txBody>
                    <a:bodyPr/>
                    <a:lstStyle/>
                    <a:p>
                      <a:pPr marL="0" marR="0">
                        <a:buNone/>
                      </a:pPr>
                      <a:r>
                        <a:rPr lang="en-US" sz="900" b="1">
                          <a:solidFill>
                            <a:srgbClr val="000000"/>
                          </a:solidFill>
                          <a:effectLst/>
                          <a:latin typeface="Times New Roman" panose="02020603050405020304" pitchFamily="18" charset="0"/>
                          <a:ea typeface="Times New Roman" panose="02020603050405020304" pitchFamily="18" charset="0"/>
                        </a:rPr>
                        <a:t>Entity overlap</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0</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0.0%</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1</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1.0%</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+1.0%</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50143578"/>
                  </a:ext>
                </a:extLst>
              </a:tr>
              <a:tr h="366824">
                <a:tc>
                  <a:txBody>
                    <a:bodyPr/>
                    <a:lstStyle/>
                    <a:p>
                      <a:pPr marL="0" marR="0">
                        <a:buNone/>
                      </a:pPr>
                      <a:r>
                        <a:rPr lang="en-US" sz="900" b="1">
                          <a:solidFill>
                            <a:srgbClr val="000000"/>
                          </a:solidFill>
                          <a:effectLst/>
                          <a:latin typeface="Times New Roman" panose="02020603050405020304" pitchFamily="18" charset="0"/>
                          <a:ea typeface="Times New Roman" panose="02020603050405020304" pitchFamily="18" charset="0"/>
                        </a:rPr>
                        <a:t>LLM judge</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0</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0.0%</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5</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4.9%</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+4.9%</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43646977"/>
                  </a:ext>
                </a:extLst>
              </a:tr>
              <a:tr h="366824">
                <a:tc>
                  <a:txBody>
                    <a:bodyPr/>
                    <a:lstStyle/>
                    <a:p>
                      <a:pPr marL="0" marR="0">
                        <a:buNone/>
                      </a:pPr>
                      <a:r>
                        <a:rPr lang="en-US" sz="900" b="1">
                          <a:solidFill>
                            <a:srgbClr val="000000"/>
                          </a:solidFill>
                          <a:effectLst/>
                          <a:latin typeface="Times New Roman" panose="02020603050405020304" pitchFamily="18" charset="0"/>
                          <a:ea typeface="Times New Roman" panose="02020603050405020304" pitchFamily="18" charset="0"/>
                        </a:rPr>
                        <a:t>Correct Total</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EDD"/>
                    </a:solidFill>
                  </a:tcPr>
                </a:tc>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1</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EDD"/>
                    </a:solidFill>
                  </a:tcPr>
                </a:tc>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1.0%</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EDD"/>
                    </a:solidFill>
                  </a:tcPr>
                </a:tc>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21</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DDBB"/>
                    </a:solidFill>
                  </a:tcPr>
                </a:tc>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20.4%</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DDBB"/>
                    </a:solidFill>
                  </a:tcPr>
                </a:tc>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+19.4%</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DDBB"/>
                    </a:solidFill>
                  </a:tcPr>
                </a:tc>
                <a:extLst>
                  <a:ext uri="{0D108BD9-81ED-4DB2-BD59-A6C34878D82A}">
                    <a16:rowId xmlns:a16="http://schemas.microsoft.com/office/drawing/2014/main" val="2113141218"/>
                  </a:ext>
                </a:extLst>
              </a:tr>
              <a:tr h="366824">
                <a:tc>
                  <a:txBody>
                    <a:bodyPr/>
                    <a:lstStyle/>
                    <a:p>
                      <a:pPr marL="0" marR="0">
                        <a:buNone/>
                      </a:pPr>
                      <a:r>
                        <a:rPr lang="en-US" sz="900" b="1">
                          <a:solidFill>
                            <a:srgbClr val="000000"/>
                          </a:solidFill>
                          <a:effectLst/>
                          <a:latin typeface="Times New Roman" panose="02020603050405020304" pitchFamily="18" charset="0"/>
                          <a:ea typeface="Times New Roman" panose="02020603050405020304" pitchFamily="18" charset="0"/>
                        </a:rPr>
                        <a:t>Refusal</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0F0"/>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72</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0F0"/>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71.3%</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0F0"/>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29</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EEE"/>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28.2%</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EEE"/>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−43.1%</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FFF0"/>
                    </a:solidFill>
                  </a:tcPr>
                </a:tc>
                <a:extLst>
                  <a:ext uri="{0D108BD9-81ED-4DB2-BD59-A6C34878D82A}">
                    <a16:rowId xmlns:a16="http://schemas.microsoft.com/office/drawing/2014/main" val="1148946862"/>
                  </a:ext>
                </a:extLst>
              </a:tr>
              <a:tr h="366824">
                <a:tc>
                  <a:txBody>
                    <a:bodyPr/>
                    <a:lstStyle/>
                    <a:p>
                      <a:pPr marL="0" marR="0">
                        <a:buNone/>
                      </a:pPr>
                      <a:r>
                        <a:rPr lang="en-US" sz="900" b="1">
                          <a:solidFill>
                            <a:srgbClr val="000000"/>
                          </a:solidFill>
                          <a:effectLst/>
                          <a:latin typeface="Times New Roman" panose="02020603050405020304" pitchFamily="18" charset="0"/>
                          <a:ea typeface="Times New Roman" panose="02020603050405020304" pitchFamily="18" charset="0"/>
                        </a:rPr>
                        <a:t>Wrong (F1 &lt; 0.75)</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28</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27.7%</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53</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51.5%</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900">
                          <a:solidFill>
                            <a:srgbClr val="000000"/>
                          </a:solidFill>
                          <a:effectLst/>
                          <a:latin typeface="Times New Roman" panose="02020603050405020304" pitchFamily="18" charset="0"/>
                          <a:ea typeface="Times New Roman" panose="02020603050405020304" pitchFamily="18" charset="0"/>
                        </a:rPr>
                        <a:t>+23.8%</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09918304"/>
                  </a:ext>
                </a:extLst>
              </a:tr>
              <a:tr h="366824">
                <a:tc>
                  <a:txBody>
                    <a:bodyPr/>
                    <a:lstStyle/>
                    <a:p>
                      <a:pPr marL="0" marR="0">
                        <a:buNone/>
                      </a:pPr>
                      <a:r>
                        <a:rPr lang="en-US" sz="900" b="1">
                          <a:solidFill>
                            <a:srgbClr val="000000"/>
                          </a:solidFill>
                          <a:effectLst/>
                          <a:latin typeface="Times New Roman" panose="02020603050405020304" pitchFamily="18" charset="0"/>
                          <a:ea typeface="Times New Roman" panose="02020603050405020304" pitchFamily="18" charset="0"/>
                        </a:rPr>
                        <a:t>Total</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EEE"/>
                    </a:solidFill>
                  </a:tcPr>
                </a:tc>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101</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EEE"/>
                    </a:solidFill>
                  </a:tcPr>
                </a:tc>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100%</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EEE"/>
                    </a:solidFill>
                  </a:tcPr>
                </a:tc>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103</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EEE"/>
                    </a:solidFill>
                  </a:tcPr>
                </a:tc>
                <a:tc>
                  <a:txBody>
                    <a:bodyPr/>
                    <a:lstStyle/>
                    <a:p>
                      <a:pPr marL="0" marR="0" algn="ctr">
                        <a:buNone/>
                      </a:pPr>
                      <a:r>
                        <a:rPr lang="en-US" sz="900" b="1">
                          <a:solidFill>
                            <a:srgbClr val="000000"/>
                          </a:solidFill>
                          <a:effectLst/>
                          <a:latin typeface="Times New Roman" panose="02020603050405020304" pitchFamily="18" charset="0"/>
                          <a:ea typeface="Times New Roman" panose="02020603050405020304" pitchFamily="18" charset="0"/>
                        </a:rPr>
                        <a:t>100%</a:t>
                      </a:r>
                      <a:endParaRPr lang="en-US" sz="90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EEE"/>
                    </a:solidFill>
                  </a:tcPr>
                </a:tc>
                <a:tc>
                  <a:txBody>
                    <a:bodyPr/>
                    <a:lstStyle/>
                    <a:p>
                      <a:pPr marL="0" marR="0" algn="ctr">
                        <a:buNone/>
                      </a:pPr>
                      <a:r>
                        <a:rPr lang="en-US" sz="900" dirty="0">
                          <a:solidFill>
                            <a:srgbClr val="000000"/>
                          </a:solidFill>
                          <a:effectLst/>
                          <a:latin typeface="Times New Roman" panose="02020603050405020304" pitchFamily="18" charset="0"/>
                          <a:ea typeface="Times New Roman" panose="02020603050405020304" pitchFamily="18" charset="0"/>
                        </a:rPr>
                        <a:t>—</a:t>
                      </a:r>
                      <a:endParaRPr lang="en-US" sz="900" dirty="0">
                        <a:effectLst/>
                        <a:latin typeface="Times New Roman" panose="02020603050405020304" pitchFamily="18" charset="0"/>
                        <a:ea typeface="Times New Roman" panose="02020603050405020304" pitchFamily="18" charset="0"/>
                      </a:endParaRPr>
                    </a:p>
                  </a:txBody>
                  <a:tcPr marL="60087" marR="60087" marT="36052" marB="3605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EEE"/>
                    </a:solidFill>
                  </a:tcPr>
                </a:tc>
                <a:extLst>
                  <a:ext uri="{0D108BD9-81ED-4DB2-BD59-A6C34878D82A}">
                    <a16:rowId xmlns:a16="http://schemas.microsoft.com/office/drawing/2014/main" val="3169878096"/>
                  </a:ext>
                </a:extLst>
              </a:tr>
            </a:tbl>
          </a:graphicData>
        </a:graphic>
      </p:graphicFrame>
    </p:spTree>
    <p:extLst>
      <p:ext uri="{BB962C8B-B14F-4D97-AF65-F5344CB8AC3E}">
        <p14:creationId xmlns:p14="http://schemas.microsoft.com/office/powerpoint/2010/main" val="1190769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8F86A0A4-CA5B-BF66-CAA7-D3E016C47373}"/>
            </a:ext>
          </a:extLst>
        </p:cNvPr>
        <p:cNvGrpSpPr/>
        <p:nvPr/>
      </p:nvGrpSpPr>
      <p:grpSpPr>
        <a:xfrm>
          <a:off x="0" y="0"/>
          <a:ext cx="0" cy="0"/>
          <a:chOff x="0" y="0"/>
          <a:chExt cx="0" cy="0"/>
        </a:xfrm>
      </p:grpSpPr>
      <p:sp>
        <p:nvSpPr>
          <p:cNvPr id="129" name="Google Shape;129;p7">
            <a:extLst>
              <a:ext uri="{FF2B5EF4-FFF2-40B4-BE49-F238E27FC236}">
                <a16:creationId xmlns:a16="http://schemas.microsoft.com/office/drawing/2014/main" id="{3438D517-129F-DE71-FF70-E3A221ED4DAC}"/>
              </a:ext>
            </a:extLst>
          </p:cNvPr>
          <p:cNvSpPr txBox="1">
            <a:spLocks noGrp="1"/>
          </p:cNvSpPr>
          <p:nvPr>
            <p:ph type="title"/>
          </p:nvPr>
        </p:nvSpPr>
        <p:spPr>
          <a:xfrm>
            <a:off x="457200" y="214290"/>
            <a:ext cx="7043758" cy="788600"/>
          </a:xfrm>
          <a:prstGeom prst="rect">
            <a:avLst/>
          </a:prstGeom>
          <a:noFill/>
          <a:ln>
            <a:noFill/>
          </a:ln>
        </p:spPr>
        <p:txBody>
          <a:bodyPr spcFirstLastPara="1" wrap="square" lIns="91425" tIns="45700" rIns="91425" bIns="45700" anchor="ctr" anchorCtr="0">
            <a:normAutofit/>
          </a:bodyPr>
          <a:lstStyle/>
          <a:p>
            <a:pPr lvl="0">
              <a:buSzPts val="4400"/>
            </a:pPr>
            <a:r>
              <a:rPr lang="en-GB" dirty="0"/>
              <a:t>Proposed Timeline</a:t>
            </a:r>
            <a:endParaRPr dirty="0"/>
          </a:p>
        </p:txBody>
      </p:sp>
      <p:sp>
        <p:nvSpPr>
          <p:cNvPr id="130" name="Google Shape;130;p7">
            <a:extLst>
              <a:ext uri="{FF2B5EF4-FFF2-40B4-BE49-F238E27FC236}">
                <a16:creationId xmlns:a16="http://schemas.microsoft.com/office/drawing/2014/main" id="{272AF1AC-4CE9-2092-EEDF-4AEB5EA99484}"/>
              </a:ext>
            </a:extLst>
          </p:cNvPr>
          <p:cNvSpPr txBox="1">
            <a:spLocks noGrp="1"/>
          </p:cNvSpPr>
          <p:nvPr>
            <p:ph type="body" idx="1"/>
          </p:nvPr>
        </p:nvSpPr>
        <p:spPr>
          <a:xfrm>
            <a:off x="457200" y="1091381"/>
            <a:ext cx="8229600" cy="5250425"/>
          </a:xfrm>
          <a:prstGeom prst="rect">
            <a:avLst/>
          </a:prstGeom>
          <a:noFill/>
          <a:ln>
            <a:noFill/>
          </a:ln>
        </p:spPr>
        <p:txBody>
          <a:bodyPr spcFirstLastPara="1" wrap="square" lIns="91425" tIns="45700" rIns="91425" bIns="45700" anchor="t" anchorCtr="0">
            <a:normAutofit/>
          </a:bodyPr>
          <a:lstStyle/>
          <a:p>
            <a:pPr marL="114300" indent="0">
              <a:buNone/>
            </a:pPr>
            <a:r>
              <a:rPr lang="en-GB" sz="1800" b="1" dirty="0"/>
              <a:t>December 2025 - January 2026 (Month 1):</a:t>
            </a:r>
            <a:r>
              <a:rPr lang="en-GB" sz="1800" dirty="0"/>
              <a:t> </a:t>
            </a:r>
          </a:p>
          <a:p>
            <a:r>
              <a:rPr lang="en-GB" sz="1800" dirty="0"/>
              <a:t>Literature review </a:t>
            </a:r>
            <a:r>
              <a:rPr lang="en-GB" sz="1800" b="1" dirty="0"/>
              <a:t>(100% </a:t>
            </a:r>
            <a:r>
              <a:rPr lang="en-IN" sz="1800" b="1" dirty="0"/>
              <a:t>✅</a:t>
            </a:r>
            <a:r>
              <a:rPr lang="en-GB" sz="1800" b="1" dirty="0"/>
              <a:t>)</a:t>
            </a:r>
            <a:endParaRPr lang="en-GB" sz="1800" dirty="0"/>
          </a:p>
          <a:p>
            <a:r>
              <a:rPr lang="en-GB" sz="1800" dirty="0" err="1"/>
              <a:t>DyFlow</a:t>
            </a:r>
            <a:r>
              <a:rPr lang="en-GB" sz="1800" dirty="0"/>
              <a:t> baseline implementation </a:t>
            </a:r>
            <a:r>
              <a:rPr lang="en-GB" sz="1800" b="1" dirty="0"/>
              <a:t>(10% </a:t>
            </a:r>
            <a:r>
              <a:rPr lang="en-IN" sz="1800" dirty="0">
                <a:latin typeface="Times New Roman" panose="02020603050405020304" pitchFamily="18" charset="0"/>
                <a:cs typeface="Times New Roman" panose="02020603050405020304" pitchFamily="18" charset="0"/>
              </a:rPr>
              <a:t>🔄</a:t>
            </a:r>
            <a:r>
              <a:rPr lang="en-GB" sz="1800" b="1" dirty="0"/>
              <a:t>)</a:t>
            </a:r>
            <a:endParaRPr lang="en-GB" sz="1800" dirty="0"/>
          </a:p>
          <a:p>
            <a:r>
              <a:rPr lang="en-GB" sz="1800" dirty="0"/>
              <a:t>Case study preparation </a:t>
            </a:r>
            <a:r>
              <a:rPr lang="en-GB" sz="1800" b="1" dirty="0"/>
              <a:t>(100% </a:t>
            </a:r>
            <a:r>
              <a:rPr lang="en-IN" sz="1800" b="1" dirty="0"/>
              <a:t>✅</a:t>
            </a:r>
            <a:r>
              <a:rPr lang="en-GB" sz="1800" b="1" dirty="0"/>
              <a:t>)</a:t>
            </a:r>
            <a:endParaRPr lang="en-GB" sz="1800" dirty="0"/>
          </a:p>
          <a:p>
            <a:r>
              <a:rPr lang="en-GB" sz="1800" dirty="0"/>
              <a:t>error taxonomy design </a:t>
            </a:r>
            <a:r>
              <a:rPr lang="en-GB" sz="1800" b="1" dirty="0"/>
              <a:t>(100% </a:t>
            </a:r>
            <a:r>
              <a:rPr lang="en-IN" sz="1800" b="1" dirty="0"/>
              <a:t>✅</a:t>
            </a:r>
            <a:r>
              <a:rPr lang="en-GB" sz="1800" b="1" dirty="0"/>
              <a:t>)</a:t>
            </a:r>
            <a:endParaRPr lang="en-GB" sz="1800" dirty="0"/>
          </a:p>
          <a:p>
            <a:pPr marL="114300" indent="0">
              <a:buNone/>
            </a:pPr>
            <a:r>
              <a:rPr lang="en-GB" sz="1800" b="1" dirty="0"/>
              <a:t>January - February 2025 (Month 2):</a:t>
            </a:r>
            <a:r>
              <a:rPr lang="en-GB" sz="1800" dirty="0"/>
              <a:t> </a:t>
            </a:r>
          </a:p>
          <a:p>
            <a:r>
              <a:rPr lang="en-GB" sz="1800" dirty="0"/>
              <a:t>domain-specific operator design </a:t>
            </a:r>
            <a:r>
              <a:rPr lang="en-GB" sz="1800" b="1" dirty="0"/>
              <a:t>(100% </a:t>
            </a:r>
            <a:r>
              <a:rPr lang="en-IN" sz="1800" b="1" dirty="0"/>
              <a:t>✅</a:t>
            </a:r>
            <a:r>
              <a:rPr lang="en-GB" sz="1800" b="1" dirty="0"/>
              <a:t>)</a:t>
            </a:r>
            <a:endParaRPr lang="en-GB" sz="1800" dirty="0"/>
          </a:p>
          <a:p>
            <a:r>
              <a:rPr lang="en-GB" sz="1800" dirty="0"/>
              <a:t>Case study data collection and labelling </a:t>
            </a:r>
            <a:r>
              <a:rPr lang="en-GB" sz="1800" b="1" dirty="0"/>
              <a:t>(100% </a:t>
            </a:r>
            <a:r>
              <a:rPr lang="en-IN" sz="1800" b="1" dirty="0"/>
              <a:t>✅</a:t>
            </a:r>
            <a:r>
              <a:rPr lang="en-GB" sz="1800" b="1" dirty="0"/>
              <a:t>)</a:t>
            </a:r>
            <a:endParaRPr lang="en-GB" sz="1800" dirty="0"/>
          </a:p>
          <a:p>
            <a:pPr marL="114300" indent="0">
              <a:buNone/>
            </a:pPr>
            <a:r>
              <a:rPr lang="en-GB" sz="1800" b="1" dirty="0"/>
              <a:t>February - March 2025 (Month 3):</a:t>
            </a:r>
            <a:r>
              <a:rPr lang="en-GB" sz="1800" dirty="0"/>
              <a:t> </a:t>
            </a:r>
          </a:p>
          <a:p>
            <a:r>
              <a:rPr lang="en-GB" sz="1800" dirty="0"/>
              <a:t>Case study Execution </a:t>
            </a:r>
            <a:r>
              <a:rPr lang="en-GB" sz="1800" b="1" dirty="0"/>
              <a:t>(1% </a:t>
            </a:r>
            <a:r>
              <a:rPr lang="en-IN" sz="1800" dirty="0">
                <a:latin typeface="Times New Roman" panose="02020603050405020304" pitchFamily="18" charset="0"/>
                <a:cs typeface="Times New Roman" panose="02020603050405020304" pitchFamily="18" charset="0"/>
              </a:rPr>
              <a:t>🔄</a:t>
            </a:r>
            <a:r>
              <a:rPr lang="en-GB" sz="1800" b="1" dirty="0"/>
              <a:t>)</a:t>
            </a:r>
            <a:endParaRPr lang="en-GB" sz="1800" dirty="0"/>
          </a:p>
          <a:p>
            <a:r>
              <a:rPr lang="en-GB" sz="1800" dirty="0"/>
              <a:t>comparative evaluation case studies </a:t>
            </a:r>
            <a:r>
              <a:rPr lang="en-GB" sz="1800" b="1" dirty="0"/>
              <a:t>(40% </a:t>
            </a:r>
            <a:r>
              <a:rPr lang="en-IN" sz="1800" dirty="0">
                <a:latin typeface="Times New Roman" panose="02020603050405020304" pitchFamily="18" charset="0"/>
                <a:cs typeface="Times New Roman" panose="02020603050405020304" pitchFamily="18" charset="0"/>
              </a:rPr>
              <a:t>🔄</a:t>
            </a:r>
            <a:r>
              <a:rPr lang="en-GB" sz="1800" b="1" dirty="0"/>
              <a:t>)</a:t>
            </a:r>
            <a:endParaRPr lang="en-GB" sz="1800" dirty="0"/>
          </a:p>
          <a:p>
            <a:r>
              <a:rPr lang="en-GB" sz="1800" dirty="0"/>
              <a:t>results analysis </a:t>
            </a:r>
            <a:r>
              <a:rPr lang="en-GB" sz="1800" b="1" dirty="0"/>
              <a:t>(50% </a:t>
            </a:r>
            <a:r>
              <a:rPr lang="en-IN" sz="1800" dirty="0">
                <a:latin typeface="Times New Roman" panose="02020603050405020304" pitchFamily="18" charset="0"/>
                <a:cs typeface="Times New Roman" panose="02020603050405020304" pitchFamily="18" charset="0"/>
              </a:rPr>
              <a:t>⏳</a:t>
            </a:r>
            <a:r>
              <a:rPr lang="en-GB" sz="1800" b="1" dirty="0"/>
              <a:t>)</a:t>
            </a:r>
            <a:endParaRPr lang="en-GB" sz="1800" dirty="0"/>
          </a:p>
          <a:p>
            <a:r>
              <a:rPr lang="en-GB" sz="1800" dirty="0"/>
              <a:t>paper writing </a:t>
            </a:r>
            <a:r>
              <a:rPr lang="en-GB" sz="1800" b="1" dirty="0"/>
              <a:t>(50% </a:t>
            </a:r>
            <a:r>
              <a:rPr lang="en-IN" sz="1800" dirty="0">
                <a:latin typeface="Times New Roman" panose="02020603050405020304" pitchFamily="18" charset="0"/>
                <a:cs typeface="Times New Roman" panose="02020603050405020304" pitchFamily="18" charset="0"/>
              </a:rPr>
              <a:t>⏳</a:t>
            </a:r>
            <a:r>
              <a:rPr lang="en-GB" sz="1800" b="1" dirty="0"/>
              <a:t>)</a:t>
            </a:r>
            <a:endParaRPr lang="en-GB" sz="1800" dirty="0"/>
          </a:p>
          <a:p>
            <a:pPr marL="114300" indent="0">
              <a:buNone/>
            </a:pPr>
            <a:r>
              <a:rPr lang="en-GB" sz="1800" b="1" dirty="0"/>
              <a:t>Target Completion: March 2025</a:t>
            </a:r>
            <a:endParaRPr lang="en-GB" sz="1800" dirty="0"/>
          </a:p>
        </p:txBody>
      </p:sp>
    </p:spTree>
    <p:extLst>
      <p:ext uri="{BB962C8B-B14F-4D97-AF65-F5344CB8AC3E}">
        <p14:creationId xmlns:p14="http://schemas.microsoft.com/office/powerpoint/2010/main" val="3321220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6"/>
          <p:cNvSpPr txBox="1">
            <a:spLocks noGrp="1"/>
          </p:cNvSpPr>
          <p:nvPr>
            <p:ph type="body" idx="1"/>
          </p:nvPr>
        </p:nvSpPr>
        <p:spPr>
          <a:xfrm>
            <a:off x="457200" y="714356"/>
            <a:ext cx="8229600" cy="5411807"/>
          </a:xfrm>
          <a:prstGeom prst="rect">
            <a:avLst/>
          </a:prstGeom>
          <a:noFill/>
          <a:ln>
            <a:noFill/>
          </a:ln>
        </p:spPr>
        <p:txBody>
          <a:bodyPr spcFirstLastPara="1" wrap="square" lIns="91425" tIns="45700" rIns="91425" bIns="45700" anchor="t" anchorCtr="0">
            <a:normAutofit/>
          </a:bodyPr>
          <a:lstStyle/>
          <a:p>
            <a:pPr marL="342900" lvl="0" indent="-342900" algn="ctr" rtl="0">
              <a:spcBef>
                <a:spcPts val="0"/>
              </a:spcBef>
              <a:spcAft>
                <a:spcPts val="0"/>
              </a:spcAft>
              <a:buClr>
                <a:schemeClr val="dk1"/>
              </a:buClr>
              <a:buSzPts val="8800"/>
              <a:buNone/>
            </a:pPr>
            <a:endParaRPr sz="8800"/>
          </a:p>
          <a:p>
            <a:pPr marL="342900" lvl="0" indent="-342900" algn="ctr" rtl="0">
              <a:spcBef>
                <a:spcPts val="1760"/>
              </a:spcBef>
              <a:spcAft>
                <a:spcPts val="0"/>
              </a:spcAft>
              <a:buClr>
                <a:schemeClr val="dk1"/>
              </a:buClr>
              <a:buSzPts val="8800"/>
              <a:buNone/>
            </a:pPr>
            <a:r>
              <a:rPr lang="en-IN" sz="8800"/>
              <a:t>Thank You</a:t>
            </a:r>
            <a:endParaRPr sz="88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378</TotalTime>
  <Words>3434</Words>
  <Application>Microsoft Office PowerPoint</Application>
  <PresentationFormat>On-screen Show (4:3)</PresentationFormat>
  <Paragraphs>386</Paragraphs>
  <Slides>22</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Dynamic Workflow Framework for Agentic Reasoning With Tools</vt:lpstr>
      <vt:lpstr>Abstract</vt:lpstr>
      <vt:lpstr>Introduction</vt:lpstr>
      <vt:lpstr>Introduction</vt:lpstr>
      <vt:lpstr>Introduction</vt:lpstr>
      <vt:lpstr>Problem Statement</vt:lpstr>
      <vt:lpstr>Problem Statement</vt:lpstr>
      <vt:lpstr>Existing Problems/Gaps</vt:lpstr>
      <vt:lpstr>PowerPoint Presentation</vt:lpstr>
      <vt:lpstr>PowerPoint Presentation</vt:lpstr>
      <vt:lpstr>PowerPoint Presentation</vt:lpstr>
      <vt:lpstr>Proposed Architecture</vt:lpstr>
      <vt:lpstr>Proposed Architecture</vt:lpstr>
      <vt:lpstr>PowerPoint Presentation</vt:lpstr>
      <vt:lpstr>Designer Architecture </vt:lpstr>
      <vt:lpstr>Proposed Algorithm</vt:lpstr>
      <vt:lpstr>Proposed Algorithm</vt:lpstr>
      <vt:lpstr>Innovation Diagram</vt:lpstr>
      <vt:lpstr>2.  GAIA Benchmark — Web Search Tool GAIA tests real-world question answering requiring current factual knowledge (exchange rates, recent events, live data). DyFlow must rely on parametric memory; DyFlow-T fetches real content via SerpAPI before answering.</vt:lpstr>
      <vt:lpstr>2.  GAIA Benchmark — Web Search Tool GAIA tests real-world question answering requiring current factual knowledge (exchange rates, recent events, live data). DyFlow must rely on parametric memory; DyFlow-T fetches real content via SerpAPI before answering.</vt:lpstr>
      <vt:lpstr>Proposed Timeline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Selvaraj, Koushik</cp:lastModifiedBy>
  <cp:revision>15</cp:revision>
  <dcterms:modified xsi:type="dcterms:W3CDTF">2026-05-03T03:54:31Z</dcterms:modified>
</cp:coreProperties>
</file>